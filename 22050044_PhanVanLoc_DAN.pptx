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32"/>
  </p:notesMasterIdLst>
  <p:handoutMasterIdLst>
    <p:handoutMasterId r:id="rId33"/>
  </p:handoutMasterIdLst>
  <p:sldIdLst>
    <p:sldId id="1497" r:id="rId5"/>
    <p:sldId id="1514" r:id="rId6"/>
    <p:sldId id="1499" r:id="rId7"/>
    <p:sldId id="1515" r:id="rId8"/>
    <p:sldId id="1519" r:id="rId9"/>
    <p:sldId id="1521" r:id="rId10"/>
    <p:sldId id="1538" r:id="rId11"/>
    <p:sldId id="1535" r:id="rId12"/>
    <p:sldId id="1537" r:id="rId13"/>
    <p:sldId id="1502" r:id="rId14"/>
    <p:sldId id="1512" r:id="rId15"/>
    <p:sldId id="1541" r:id="rId16"/>
    <p:sldId id="1517" r:id="rId17"/>
    <p:sldId id="1525" r:id="rId18"/>
    <p:sldId id="1526" r:id="rId19"/>
    <p:sldId id="1518" r:id="rId20"/>
    <p:sldId id="1528" r:id="rId21"/>
    <p:sldId id="1540" r:id="rId22"/>
    <p:sldId id="1543" r:id="rId23"/>
    <p:sldId id="1530" r:id="rId24"/>
    <p:sldId id="1531" r:id="rId25"/>
    <p:sldId id="298" r:id="rId26"/>
    <p:sldId id="1532" r:id="rId27"/>
    <p:sldId id="1534" r:id="rId28"/>
    <p:sldId id="1533" r:id="rId29"/>
    <p:sldId id="1542" r:id="rId30"/>
    <p:sldId id="153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2288" autoAdjust="0"/>
  </p:normalViewPr>
  <p:slideViewPr>
    <p:cSldViewPr snapToGrid="0">
      <p:cViewPr>
        <p:scale>
          <a:sx n="75" d="100"/>
          <a:sy n="75" d="100"/>
        </p:scale>
        <p:origin x="1410" y="85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09/14/2026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09/14/2026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084255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684165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137927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3663A-59E1-A439-D2EE-6F20F07D9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CFD2E-86E3-ABA5-FE4B-118DC1CC5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77D6D-5D2D-8CD4-0771-BB848B9BBC1D}"/>
              </a:ext>
            </a:extLst>
          </p:cNvPr>
          <p:cNvSpPr>
            <a:spLocks noGrp="1"/>
          </p:cNvSpPr>
          <p:nvPr>
            <p:ph type="body" idx="1"/>
          </p:nvPr>
        </p:nvSpPr>
        <p:spPr/>
        <p:txBody>
          <a:bodyPr/>
          <a:lstStyle/>
          <a:p>
            <a:r>
              <a:rPr lang="vi-VN" b="1" dirty="0"/>
              <a:t>1. Luồng Giám sát và Phân tích AI (Real-time Detection)</a:t>
            </a:r>
          </a:p>
          <a:p>
            <a:r>
              <a:rPr lang="vi-VN" dirty="0"/>
              <a:t>Đây là luồng hoạt động tự động và liên tục để đảm bảo an ninh:</a:t>
            </a:r>
          </a:p>
          <a:p>
            <a:r>
              <a:rPr lang="vi-VN" b="1" dirty="0"/>
              <a:t>Thu thập:</a:t>
            </a:r>
            <a:r>
              <a:rPr lang="vi-VN" dirty="0"/>
              <a:t> </a:t>
            </a:r>
            <a:r>
              <a:rPr lang="vi-VN" b="1" dirty="0"/>
              <a:t>Camera AI</a:t>
            </a:r>
            <a:r>
              <a:rPr lang="vi-VN" dirty="0"/>
              <a:t> gửi dữ liệu khung hình (Frame data) thông qua giao thức RTSP/Video Stream về máy chủ Backend [image_76e89a.jpg].</a:t>
            </a:r>
          </a:p>
          <a:p>
            <a:r>
              <a:rPr lang="vi-VN" b="1" dirty="0"/>
              <a:t>Xử lý AI:</a:t>
            </a:r>
            <a:r>
              <a:rPr lang="vi-VN" dirty="0"/>
              <a:t> </a:t>
            </a:r>
            <a:r>
              <a:rPr lang="vi-VN" b="1" dirty="0"/>
              <a:t>Flask Backend</a:t>
            </a:r>
            <a:r>
              <a:rPr lang="vi-VN" dirty="0"/>
              <a:t> chuyển tiếp các khung hình này đến các mô hình chuyên biệt:</a:t>
            </a:r>
          </a:p>
          <a:p>
            <a:pPr lvl="1"/>
            <a:r>
              <a:rPr lang="vi-VN" b="1" dirty="0"/>
              <a:t>YOLOv8:</a:t>
            </a:r>
            <a:r>
              <a:rPr lang="vi-VN" dirty="0"/>
              <a:t> Phân tích hành vi để phát hiện các tình huống xô xát (fight detection) [image_76e89a.jpg, 1].</a:t>
            </a:r>
          </a:p>
          <a:p>
            <a:pPr lvl="1"/>
            <a:r>
              <a:rPr lang="vi-VN" b="1" dirty="0"/>
              <a:t>InsightFace:</a:t>
            </a:r>
            <a:r>
              <a:rPr lang="vi-VN" dirty="0"/>
              <a:t> Thực hiện nhận diện khuôn mặt để xác định danh tính đối tượng trong khung hình [image_76e89a.jpg].</a:t>
            </a:r>
          </a:p>
          <a:p>
            <a:r>
              <a:rPr lang="vi-VN" b="1" dirty="0"/>
              <a:t>Lưu trữ:</a:t>
            </a:r>
            <a:r>
              <a:rPr lang="vi-VN" dirty="0"/>
              <a:t> Kết quả nhận diện và các cảnh báo được Backend ghi lại vào cơ sở dữ liệu </a:t>
            </a:r>
            <a:r>
              <a:rPr lang="vi-VN" b="1" dirty="0"/>
              <a:t>MS SQL Server</a:t>
            </a:r>
            <a:r>
              <a:rPr lang="vi-VN" dirty="0"/>
              <a:t> thông qua thư viện </a:t>
            </a:r>
            <a:r>
              <a:rPr lang="vi-VN" sz="1200" kern="1200" dirty="0">
                <a:solidFill>
                  <a:schemeClr val="tx1"/>
                </a:solidFill>
                <a:latin typeface="+mn-lt"/>
                <a:ea typeface="+mn-ea"/>
                <a:cs typeface="+mn-cs"/>
              </a:rPr>
              <a:t>pyodbc</a:t>
            </a:r>
            <a:r>
              <a:rPr lang="vi-VN" dirty="0"/>
              <a:t> [image_76e89a.jpg].</a:t>
            </a:r>
          </a:p>
          <a:p>
            <a:r>
              <a:rPr lang="vi-VN" b="1" dirty="0"/>
              <a:t>2. Luồng Quản trị và Theo dõi (System Management)</a:t>
            </a:r>
          </a:p>
          <a:p>
            <a:r>
              <a:rPr lang="vi-VN" dirty="0"/>
              <a:t>Dành cho người quản lý hệ thống (Admin):</a:t>
            </a:r>
          </a:p>
          <a:p>
            <a:r>
              <a:rPr lang="vi-VN" b="1" dirty="0"/>
              <a:t>Truy cập:</a:t>
            </a:r>
            <a:r>
              <a:rPr lang="vi-VN" dirty="0"/>
              <a:t> </a:t>
            </a:r>
            <a:r>
              <a:rPr lang="vi-VN" b="1" dirty="0"/>
              <a:t>Admin</a:t>
            </a:r>
            <a:r>
              <a:rPr lang="vi-VN" dirty="0"/>
              <a:t> tương tác với giao diện </a:t>
            </a:r>
            <a:r>
              <a:rPr lang="vi-VN" b="1" dirty="0"/>
              <a:t>Web Dashboard</a:t>
            </a:r>
            <a:r>
              <a:rPr lang="vi-VN" dirty="0"/>
              <a:t> (bao gồm các trang phân tích, danh tính, hồ sơ) [image_76e89a.jpg].</a:t>
            </a:r>
          </a:p>
          <a:p>
            <a:r>
              <a:rPr lang="vi-VN" b="1" dirty="0"/>
              <a:t>Giao tiếp:</a:t>
            </a:r>
            <a:r>
              <a:rPr lang="vi-VN" dirty="0"/>
              <a:t> Web gửi các yêu cầu </a:t>
            </a:r>
            <a:r>
              <a:rPr lang="vi-VN" b="1" dirty="0"/>
              <a:t>HTTP Request (REST API)</a:t>
            </a:r>
            <a:r>
              <a:rPr lang="vi-VN" dirty="0"/>
              <a:t> đến Backend để lấy dữ liệu thống kê từ cơ sở dữ liệu và hiển thị lên biểu đồ hoặc danh sách quản lý [image_76e89a.jpg].</a:t>
            </a:r>
          </a:p>
          <a:p>
            <a:r>
              <a:rPr lang="vi-VN" b="1" dirty="0"/>
              <a:t>3. Luồng Tương tác và Hỗ trợ Thông minh (Smart Interaction)</a:t>
            </a:r>
          </a:p>
          <a:p>
            <a:r>
              <a:rPr lang="vi-VN" dirty="0"/>
              <a:t>Đây là điểm đặc biệt giúp hỗ trợ trực tiếp cho nhân viên bảo vệ:</a:t>
            </a:r>
          </a:p>
          <a:p>
            <a:r>
              <a:rPr lang="vi-VN" b="1" dirty="0"/>
              <a:t>Thông báo &amp; Truy cập:</a:t>
            </a:r>
            <a:r>
              <a:rPr lang="vi-VN" dirty="0"/>
              <a:t> </a:t>
            </a:r>
            <a:r>
              <a:rPr lang="vi-VN" b="1" dirty="0"/>
              <a:t>Nhân viên bảo vệ</a:t>
            </a:r>
            <a:r>
              <a:rPr lang="vi-VN" dirty="0"/>
              <a:t> sử dụng </a:t>
            </a:r>
            <a:r>
              <a:rPr lang="vi-VN" b="1" dirty="0"/>
              <a:t>Mobile App</a:t>
            </a:r>
            <a:r>
              <a:rPr lang="vi-VN" dirty="0"/>
              <a:t> (viết bằng React Native/Expo) để nhận cảnh báo tức thời từ Backend [image_76e89a.jpg].</a:t>
            </a:r>
          </a:p>
          <a:p>
            <a:r>
              <a:rPr lang="vi-VN" b="1" dirty="0"/>
              <a:t>Trợ lý ảo (ASA Brain):</a:t>
            </a:r>
            <a:r>
              <a:rPr lang="vi-VN" dirty="0"/>
              <a:t> Khi bảo vệ cần tra cứu thông tin, họ sẽ tương tác với </a:t>
            </a:r>
            <a:r>
              <a:rPr lang="vi-VN" b="1" dirty="0"/>
              <a:t>Gemini AI (gemini-2.5-flash)</a:t>
            </a:r>
            <a:r>
              <a:rPr lang="vi-VN" dirty="0"/>
              <a:t> [image_76e89a.jpg].</a:t>
            </a:r>
          </a:p>
          <a:p>
            <a:r>
              <a:rPr lang="vi-VN" b="1" dirty="0"/>
              <a:t>Xử lý tri thức:</a:t>
            </a:r>
            <a:r>
              <a:rPr lang="vi-VN" dirty="0"/>
              <a:t> Hệ thống Gemini này được nạp dữ liệu từ các </a:t>
            </a:r>
            <a:r>
              <a:rPr lang="vi-VN" b="1" dirty="0"/>
              <a:t>tài liệu PDF (Nội quy trường)</a:t>
            </a:r>
            <a:r>
              <a:rPr lang="vi-VN" dirty="0"/>
              <a:t> [image_76e89a.jpg]. Khi có câu hỏi, AI sẽ đọc hiểu nội dung từ PDF để trả lời chính xác các quy định về an ninh cho bảo vệ ngay trên ứng dụng di động [image_76e89a.jpg, 1].</a:t>
            </a:r>
          </a:p>
          <a:p>
            <a:endParaRPr lang="en-US" dirty="0"/>
          </a:p>
        </p:txBody>
      </p:sp>
      <p:sp>
        <p:nvSpPr>
          <p:cNvPr id="4" name="Slide Number Placeholder 3">
            <a:extLst>
              <a:ext uri="{FF2B5EF4-FFF2-40B4-BE49-F238E27FC236}">
                <a16:creationId xmlns:a16="http://schemas.microsoft.com/office/drawing/2014/main" id="{A300A42D-4249-29D1-8468-6336EF96BF12}"/>
              </a:ext>
            </a:extLst>
          </p:cNvPr>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3678123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21</a:t>
            </a:fld>
            <a:endParaRPr lang="en-US" dirty="0"/>
          </a:p>
        </p:txBody>
      </p:sp>
    </p:spTree>
    <p:extLst>
      <p:ext uri="{BB962C8B-B14F-4D97-AF65-F5344CB8AC3E}">
        <p14:creationId xmlns:p14="http://schemas.microsoft.com/office/powerpoint/2010/main" val="3878699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8A75-B322-E1A0-AB36-AB3F5997A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42D57-53E4-EF88-3F22-045AECA01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F0D67-0AD0-2CB1-0B31-587541542A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9FDE70-6303-0804-2FB1-EBDE1E429CF9}"/>
              </a:ext>
            </a:extLst>
          </p:cNvPr>
          <p:cNvSpPr>
            <a:spLocks noGrp="1"/>
          </p:cNvSpPr>
          <p:nvPr>
            <p:ph type="sldNum" sz="quarter" idx="5"/>
          </p:nvPr>
        </p:nvSpPr>
        <p:spPr/>
        <p:txBody>
          <a:bodyPr/>
          <a:lstStyle/>
          <a:p>
            <a:fld id="{BFDD6F49-EBB7-4CCF-97A8-E526BB28BB69}" type="slidenum">
              <a:rPr lang="en-US" smtClean="0"/>
              <a:t>24</a:t>
            </a:fld>
            <a:endParaRPr lang="en-US" dirty="0"/>
          </a:p>
        </p:txBody>
      </p:sp>
    </p:spTree>
    <p:extLst>
      <p:ext uri="{BB962C8B-B14F-4D97-AF65-F5344CB8AC3E}">
        <p14:creationId xmlns:p14="http://schemas.microsoft.com/office/powerpoint/2010/main" val="866117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4DFB-C039-F152-B84A-F249C4C82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8B131-CF63-87D2-C9D8-18EA7F4EB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05E9F-312B-62AE-1D8A-CF76D7D121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ED34AB-84BE-6692-63DF-200B77431B2C}"/>
              </a:ext>
            </a:extLst>
          </p:cNvPr>
          <p:cNvSpPr>
            <a:spLocks noGrp="1"/>
          </p:cNvSpPr>
          <p:nvPr>
            <p:ph type="sldNum" sz="quarter" idx="5"/>
          </p:nvPr>
        </p:nvSpPr>
        <p:spPr/>
        <p:txBody>
          <a:bodyPr/>
          <a:lstStyle/>
          <a:p>
            <a:fld id="{BFDD6F49-EBB7-4CCF-97A8-E526BB28BB69}" type="slidenum">
              <a:rPr lang="en-US" smtClean="0"/>
              <a:t>25</a:t>
            </a:fld>
            <a:endParaRPr lang="en-US" dirty="0"/>
          </a:p>
        </p:txBody>
      </p:sp>
    </p:spTree>
    <p:extLst>
      <p:ext uri="{BB962C8B-B14F-4D97-AF65-F5344CB8AC3E}">
        <p14:creationId xmlns:p14="http://schemas.microsoft.com/office/powerpoint/2010/main" val="4165960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8BFF-5C5F-0BE4-1CA5-3134ADF5D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19A36-8369-A691-1089-1F13431E4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75DF2-328C-1358-53FA-0D2ACA33B0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71216C-A5CA-66A0-E445-B02502675D7B}"/>
              </a:ext>
            </a:extLst>
          </p:cNvPr>
          <p:cNvSpPr>
            <a:spLocks noGrp="1"/>
          </p:cNvSpPr>
          <p:nvPr>
            <p:ph type="sldNum" sz="quarter" idx="5"/>
          </p:nvPr>
        </p:nvSpPr>
        <p:spPr/>
        <p:txBody>
          <a:bodyPr/>
          <a:lstStyle/>
          <a:p>
            <a:fld id="{BFDD6F49-EBB7-4CCF-97A8-E526BB28BB69}" type="slidenum">
              <a:rPr lang="en-US" smtClean="0"/>
              <a:t>26</a:t>
            </a:fld>
            <a:endParaRPr lang="en-US" dirty="0"/>
          </a:p>
        </p:txBody>
      </p:sp>
    </p:spTree>
    <p:extLst>
      <p:ext uri="{BB962C8B-B14F-4D97-AF65-F5344CB8AC3E}">
        <p14:creationId xmlns:p14="http://schemas.microsoft.com/office/powerpoint/2010/main" val="21869321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09/14/2026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09/14/2026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09/14/2026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09/14/2026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09/14/2026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09/14/2026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09/14/2026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09/14/2026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09/14/2026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09/14/2026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09/14/2026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09/14/2026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09/14/2026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09/14/2026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09/14/2026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09/14/2026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09/14/2026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09/14/2026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09/14/2026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09/14/2026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09/14/2026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09/14/2026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09/14/2026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09/14/2026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09/14/2026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09/14/2026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09/14/2026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09/14/2026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09/14/2026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09/14/2026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09/14/2026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09/14/2026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09/14/2026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sv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jpg"/></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2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g"/></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38.svg"/><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pixabay.com/en/hand-leave-pen-paper-thank-you-226358/" TargetMode="External"/><Relationship Id="rId2" Type="http://schemas.openxmlformats.org/officeDocument/2006/relationships/image" Target="../media/image4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4835927-2DC5-60BC-0D7B-C65E60A436C7}"/>
              </a:ext>
            </a:extLst>
          </p:cNvPr>
          <p:cNvSpPr/>
          <p:nvPr/>
        </p:nvSpPr>
        <p:spPr>
          <a:xfrm>
            <a:off x="139700" y="190500"/>
            <a:ext cx="11887200" cy="6438900"/>
          </a:xfrm>
          <a:prstGeom prst="roundRect">
            <a:avLst>
              <a:gd name="adj" fmla="val 2778"/>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2061804" y="3173861"/>
            <a:ext cx="9172722" cy="1606091"/>
          </a:xfrm>
        </p:spPr>
        <p:txBody>
          <a:bodyPr>
            <a:noAutofit/>
          </a:bodyPr>
          <a:lstStyle/>
          <a:p>
            <a:pPr algn="just"/>
            <a:r>
              <a:rPr lang="vi-VN" sz="3600" b="1" dirty="0">
                <a:latin typeface="Times New Roman" panose="02020603050405020304" pitchFamily="18" charset="0"/>
                <a:cs typeface="Times New Roman" panose="02020603050405020304" pitchFamily="18" charset="0"/>
              </a:rPr>
              <a:t>Phát triển ứng dụng Web, Mobile quản lý và giám sát sự kiện an ninh trong trường đại học</a:t>
            </a:r>
            <a:endParaRPr lang="en-US"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726269"/>
            <a:ext cx="3024899" cy="547908"/>
          </a:xfrm>
        </p:spPr>
        <p:txBody>
          <a:bodyPr>
            <a:normAutofit/>
          </a:bodyPr>
          <a:lstStyle/>
          <a:p>
            <a:r>
              <a:rPr lang="vi-VN" sz="2000" b="1" dirty="0">
                <a:latin typeface="Arial" panose="020B0604020202020204" pitchFamily="34" charset="0"/>
                <a:cs typeface="Arial" panose="020B0604020202020204" pitchFamily="34" charset="0"/>
              </a:rPr>
              <a:t>ĐỒ </a:t>
            </a:r>
            <a:r>
              <a:rPr lang="vi-VN" sz="2000" b="1">
                <a:latin typeface="Arial" panose="020B0604020202020204" pitchFamily="34" charset="0"/>
                <a:cs typeface="Arial" panose="020B0604020202020204" pitchFamily="34" charset="0"/>
              </a:rPr>
              <a:t>ÁN TỐT NGHIỆP</a:t>
            </a:r>
            <a:endParaRPr lang="en-US" sz="2000" b="1" dirty="0">
              <a:latin typeface="Arial" panose="020B0604020202020204" pitchFamily="34" charset="0"/>
              <a:cs typeface="Arial" panose="020B0604020202020204" pitchFamily="34" charset="0"/>
            </a:endParaRPr>
          </a:p>
        </p:txBody>
      </p:sp>
      <p:sp>
        <p:nvSpPr>
          <p:cNvPr id="23" name="TextBox 10">
            <a:extLst>
              <a:ext uri="{FF2B5EF4-FFF2-40B4-BE49-F238E27FC236}">
                <a16:creationId xmlns:a16="http://schemas.microsoft.com/office/drawing/2014/main" id="{19D7455B-9B31-832D-CAD9-1C2DD8884B16}"/>
              </a:ext>
            </a:extLst>
          </p:cNvPr>
          <p:cNvSpPr txBox="1"/>
          <p:nvPr/>
        </p:nvSpPr>
        <p:spPr>
          <a:xfrm>
            <a:off x="792155" y="480886"/>
            <a:ext cx="4348013" cy="1009283"/>
          </a:xfrm>
          <a:prstGeom prst="rect">
            <a:avLst/>
          </a:prstGeom>
        </p:spPr>
        <p:txBody>
          <a:bodyPr lIns="50800" tIns="50800" rIns="50800" bIns="50800" rtlCol="0" anchor="ctr"/>
          <a:lstStyle/>
          <a:p>
            <a:pPr algn="ctr">
              <a:lnSpc>
                <a:spcPts val="3220"/>
              </a:lnSpc>
            </a:pPr>
            <a:endParaRPr dirty="0"/>
          </a:p>
        </p:txBody>
      </p:sp>
      <p:sp>
        <p:nvSpPr>
          <p:cNvPr id="24" name="TextBox 23">
            <a:extLst>
              <a:ext uri="{FF2B5EF4-FFF2-40B4-BE49-F238E27FC236}">
                <a16:creationId xmlns:a16="http://schemas.microsoft.com/office/drawing/2014/main" id="{A7114EA8-C1F3-3AA9-D824-7586B19515AF}"/>
              </a:ext>
            </a:extLst>
          </p:cNvPr>
          <p:cNvSpPr txBox="1"/>
          <p:nvPr/>
        </p:nvSpPr>
        <p:spPr>
          <a:xfrm>
            <a:off x="6096000" y="5630433"/>
            <a:ext cx="5750677" cy="646331"/>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GIẢNG VIÊN HƯỚNG DẪN: THS. DƯƠNG ANH TUẤN</a:t>
            </a:r>
          </a:p>
          <a:p>
            <a:r>
              <a:rPr lang="vi-VN" dirty="0">
                <a:latin typeface="Times New Roman" panose="02020603050405020304" pitchFamily="18" charset="0"/>
                <a:cs typeface="Times New Roman" panose="02020603050405020304" pitchFamily="18" charset="0"/>
              </a:rPr>
              <a:t>SINH VIÊN THỰC HIỆN: PHAN VĂN LỘC</a:t>
            </a:r>
          </a:p>
        </p:txBody>
      </p:sp>
      <p:sp>
        <p:nvSpPr>
          <p:cNvPr id="25" name="Freeform 12">
            <a:extLst>
              <a:ext uri="{FF2B5EF4-FFF2-40B4-BE49-F238E27FC236}">
                <a16:creationId xmlns:a16="http://schemas.microsoft.com/office/drawing/2014/main" id="{B8366258-F75A-C1C8-8153-B193DB915D47}"/>
              </a:ext>
            </a:extLst>
          </p:cNvPr>
          <p:cNvSpPr/>
          <p:nvPr/>
        </p:nvSpPr>
        <p:spPr>
          <a:xfrm>
            <a:off x="9376229" y="-169666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pic>
        <p:nvPicPr>
          <p:cNvPr id="9" name="Picture 8">
            <a:extLst>
              <a:ext uri="{FF2B5EF4-FFF2-40B4-BE49-F238E27FC236}">
                <a16:creationId xmlns:a16="http://schemas.microsoft.com/office/drawing/2014/main" id="{2287DAAA-3B00-85D3-07CC-F2F09A72D599}"/>
              </a:ext>
            </a:extLst>
          </p:cNvPr>
          <p:cNvPicPr>
            <a:picLocks noChangeAspect="1"/>
          </p:cNvPicPr>
          <p:nvPr/>
        </p:nvPicPr>
        <p:blipFill>
          <a:blip r:embed="rId3">
            <a:extLst>
              <a:ext uri="{28A0092B-C50C-407E-A947-70E740481C1C}">
                <a14:useLocalDpi xmlns:a14="http://schemas.microsoft.com/office/drawing/2010/main" val="0"/>
              </a:ext>
            </a:extLst>
          </a:blip>
          <a:srcRect t="6637"/>
          <a:stretch>
            <a:fillRect/>
          </a:stretch>
        </p:blipFill>
        <p:spPr>
          <a:xfrm>
            <a:off x="3509136" y="0"/>
            <a:ext cx="5173727" cy="826585"/>
          </a:xfrm>
          <a:prstGeom prst="rect">
            <a:avLst/>
          </a:prstGeom>
        </p:spPr>
      </p:pic>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859536" y="907303"/>
            <a:ext cx="4361688" cy="1226298"/>
          </a:xfrm>
        </p:spPr>
        <p:txBody>
          <a:bodyPr/>
          <a:lstStyle/>
          <a:p>
            <a:r>
              <a:rPr lang="en-US" b="1" dirty="0" err="1">
                <a:latin typeface="Roboto" panose="02000000000000000000" pitchFamily="2" charset="0"/>
                <a:ea typeface="Roboto" panose="02000000000000000000" pitchFamily="2" charset="0"/>
                <a:cs typeface="Roboto" panose="02000000000000000000" pitchFamily="2" charset="0"/>
              </a:rPr>
              <a:t>Nội</a:t>
            </a:r>
            <a:r>
              <a:rPr lang="en-US" b="1" dirty="0">
                <a:latin typeface="Roboto" panose="02000000000000000000" pitchFamily="2" charset="0"/>
                <a:ea typeface="Roboto" panose="02000000000000000000" pitchFamily="2" charset="0"/>
                <a:cs typeface="Roboto" panose="02000000000000000000" pitchFamily="2" charset="0"/>
              </a:rPr>
              <a:t> dung</a:t>
            </a:r>
          </a:p>
        </p:txBody>
      </p:sp>
      <p:pic>
        <p:nvPicPr>
          <p:cNvPr id="15" name="Picture Placeholder 14" descr="A white object on a white surface">
            <a:extLst>
              <a:ext uri="{FF2B5EF4-FFF2-40B4-BE49-F238E27FC236}">
                <a16:creationId xmlns:a16="http://schemas.microsoft.com/office/drawing/2014/main" id="{7270AD1A-8F9F-BF9D-AE26-986ADE7EF35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6134100" y="333756"/>
            <a:ext cx="5701861" cy="6190488"/>
          </a:xfrm>
        </p:spPr>
      </p:pic>
      <p:sp>
        <p:nvSpPr>
          <p:cNvPr id="8" name="TextBox 7">
            <a:extLst>
              <a:ext uri="{FF2B5EF4-FFF2-40B4-BE49-F238E27FC236}">
                <a16:creationId xmlns:a16="http://schemas.microsoft.com/office/drawing/2014/main" id="{E92DA227-F88C-10C6-B7AF-51F38D00F361}"/>
              </a:ext>
            </a:extLst>
          </p:cNvPr>
          <p:cNvSpPr txBox="1"/>
          <p:nvPr/>
        </p:nvSpPr>
        <p:spPr>
          <a:xfrm>
            <a:off x="1423925" y="2133601"/>
            <a:ext cx="3376485" cy="461665"/>
          </a:xfrm>
          <a:prstGeom prst="rect">
            <a:avLst/>
          </a:prstGeom>
          <a:noFill/>
        </p:spPr>
        <p:txBody>
          <a:bodyPr wrap="square" rtlCol="0">
            <a:spAutoFit/>
          </a:bodyPr>
          <a:lstStyle/>
          <a:p>
            <a:r>
              <a:rPr lang="en-US" sz="2400" b="1" dirty="0" err="1">
                <a:latin typeface="Roboto" panose="02000000000000000000" pitchFamily="2" charset="0"/>
                <a:ea typeface="Roboto" panose="02000000000000000000" pitchFamily="2" charset="0"/>
                <a:cs typeface="Roboto" panose="02000000000000000000" pitchFamily="2" charset="0"/>
              </a:rPr>
              <a:t>Giới</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thiệu</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tổng</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quan</a:t>
            </a:r>
            <a:endParaRPr lang="en-US" sz="2400" b="1" dirty="0">
              <a:latin typeface="Roboto" panose="02000000000000000000" pitchFamily="2" charset="0"/>
              <a:ea typeface="Roboto" panose="02000000000000000000" pitchFamily="2" charset="0"/>
              <a:cs typeface="Roboto" panose="02000000000000000000" pitchFamily="2" charset="0"/>
            </a:endParaRPr>
          </a:p>
        </p:txBody>
      </p:sp>
      <p:sp>
        <p:nvSpPr>
          <p:cNvPr id="11" name="TextBox 10">
            <a:extLst>
              <a:ext uri="{FF2B5EF4-FFF2-40B4-BE49-F238E27FC236}">
                <a16:creationId xmlns:a16="http://schemas.microsoft.com/office/drawing/2014/main" id="{A183066E-9022-2A02-99A3-3D66CFEBB56B}"/>
              </a:ext>
            </a:extLst>
          </p:cNvPr>
          <p:cNvSpPr txBox="1"/>
          <p:nvPr/>
        </p:nvSpPr>
        <p:spPr>
          <a:xfrm>
            <a:off x="1423925" y="2851665"/>
            <a:ext cx="2558997" cy="461665"/>
          </a:xfrm>
          <a:prstGeom prst="rect">
            <a:avLst/>
          </a:prstGeom>
          <a:noFill/>
        </p:spPr>
        <p:txBody>
          <a:bodyPr wrap="square" rtlCol="0">
            <a:spAutoFit/>
          </a:bodyPr>
          <a:lstStyle/>
          <a:p>
            <a:r>
              <a:rPr lang="en-US" sz="2400" b="1" dirty="0">
                <a:latin typeface="Roboto" panose="02000000000000000000" pitchFamily="2" charset="0"/>
                <a:ea typeface="Roboto" panose="02000000000000000000" pitchFamily="2" charset="0"/>
                <a:cs typeface="Roboto" panose="02000000000000000000" pitchFamily="2" charset="0"/>
              </a:rPr>
              <a:t>C</a:t>
            </a:r>
            <a:r>
              <a:rPr lang="vi-VN" sz="2400" b="1" dirty="0">
                <a:latin typeface="Roboto" panose="02000000000000000000" pitchFamily="2" charset="0"/>
                <a:ea typeface="Roboto" panose="02000000000000000000" pitchFamily="2" charset="0"/>
                <a:cs typeface="Roboto" panose="02000000000000000000" pitchFamily="2" charset="0"/>
              </a:rPr>
              <a:t>ơ</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sở</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lý</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thuyết</a:t>
            </a:r>
            <a:endParaRPr lang="en-US" sz="2400" b="1" dirty="0">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CA5FC311-EA1E-E34A-8015-2EACD9FFF486}"/>
              </a:ext>
            </a:extLst>
          </p:cNvPr>
          <p:cNvSpPr txBox="1"/>
          <p:nvPr/>
        </p:nvSpPr>
        <p:spPr>
          <a:xfrm>
            <a:off x="1451277" y="3569730"/>
            <a:ext cx="3158242" cy="461665"/>
          </a:xfrm>
          <a:prstGeom prst="rect">
            <a:avLst/>
          </a:prstGeom>
          <a:noFill/>
        </p:spPr>
        <p:txBody>
          <a:bodyPr wrap="square" rtlCol="0">
            <a:spAutoFit/>
          </a:bodyPr>
          <a:lstStyle/>
          <a:p>
            <a:r>
              <a:rPr lang="en-US" sz="2400" b="1" dirty="0" err="1">
                <a:latin typeface="Roboto" panose="02000000000000000000" pitchFamily="2" charset="0"/>
                <a:ea typeface="Roboto" panose="02000000000000000000" pitchFamily="2" charset="0"/>
                <a:cs typeface="Roboto" panose="02000000000000000000" pitchFamily="2" charset="0"/>
              </a:rPr>
              <a:t>Phân</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tích</a:t>
            </a:r>
            <a:r>
              <a:rPr lang="en-US" sz="2400" b="1" dirty="0">
                <a:latin typeface="Roboto" panose="02000000000000000000" pitchFamily="2" charset="0"/>
                <a:ea typeface="Roboto" panose="02000000000000000000" pitchFamily="2" charset="0"/>
                <a:cs typeface="Roboto" panose="02000000000000000000" pitchFamily="2" charset="0"/>
              </a:rPr>
              <a:t> - </a:t>
            </a:r>
            <a:r>
              <a:rPr lang="vi-VN" sz="2400" b="1" dirty="0">
                <a:latin typeface="Roboto" panose="02000000000000000000" pitchFamily="2" charset="0"/>
                <a:ea typeface="Roboto" panose="02000000000000000000" pitchFamily="2" charset="0"/>
                <a:cs typeface="Roboto" panose="02000000000000000000" pitchFamily="2" charset="0"/>
              </a:rPr>
              <a:t>t</a:t>
            </a:r>
            <a:r>
              <a:rPr lang="en-US" sz="2400" b="1" dirty="0" err="1">
                <a:latin typeface="Roboto" panose="02000000000000000000" pitchFamily="2" charset="0"/>
                <a:ea typeface="Roboto" panose="02000000000000000000" pitchFamily="2" charset="0"/>
                <a:cs typeface="Roboto" panose="02000000000000000000" pitchFamily="2" charset="0"/>
              </a:rPr>
              <a:t>hiết</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kế</a:t>
            </a:r>
            <a:endParaRPr lang="en-US" sz="2400" b="1" dirty="0">
              <a:latin typeface="Roboto" panose="02000000000000000000" pitchFamily="2" charset="0"/>
              <a:ea typeface="Roboto" panose="02000000000000000000" pitchFamily="2" charset="0"/>
              <a:cs typeface="Roboto" panose="02000000000000000000" pitchFamily="2" charset="0"/>
            </a:endParaRPr>
          </a:p>
        </p:txBody>
      </p:sp>
      <p:sp>
        <p:nvSpPr>
          <p:cNvPr id="18" name="TextBox 17">
            <a:extLst>
              <a:ext uri="{FF2B5EF4-FFF2-40B4-BE49-F238E27FC236}">
                <a16:creationId xmlns:a16="http://schemas.microsoft.com/office/drawing/2014/main" id="{E4E41D6F-F041-2855-A8EA-11AAE887C233}"/>
              </a:ext>
            </a:extLst>
          </p:cNvPr>
          <p:cNvSpPr txBox="1"/>
          <p:nvPr/>
        </p:nvSpPr>
        <p:spPr>
          <a:xfrm>
            <a:off x="1451277" y="4262733"/>
            <a:ext cx="3898975" cy="461665"/>
          </a:xfrm>
          <a:prstGeom prst="rect">
            <a:avLst/>
          </a:prstGeom>
          <a:noFill/>
        </p:spPr>
        <p:txBody>
          <a:bodyPr wrap="square" rtlCol="0">
            <a:spAutoFit/>
          </a:bodyPr>
          <a:lstStyle/>
          <a:p>
            <a:r>
              <a:rPr lang="en-US" sz="2400" b="1" dirty="0" err="1">
                <a:latin typeface="Roboto" panose="02000000000000000000" pitchFamily="2" charset="0"/>
                <a:ea typeface="Roboto" panose="02000000000000000000" pitchFamily="2" charset="0"/>
                <a:cs typeface="Roboto" panose="02000000000000000000" pitchFamily="2" charset="0"/>
              </a:rPr>
              <a:t>Kết</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quả</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và</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thực</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nghiệm</a:t>
            </a:r>
            <a:endParaRPr lang="en-US" sz="2400" b="1" dirty="0">
              <a:latin typeface="Roboto" panose="02000000000000000000" pitchFamily="2" charset="0"/>
              <a:ea typeface="Roboto" panose="02000000000000000000" pitchFamily="2" charset="0"/>
              <a:cs typeface="Roboto" panose="02000000000000000000" pitchFamily="2" charset="0"/>
            </a:endParaRPr>
          </a:p>
        </p:txBody>
      </p:sp>
      <p:sp>
        <p:nvSpPr>
          <p:cNvPr id="21" name="TextBox 20">
            <a:extLst>
              <a:ext uri="{FF2B5EF4-FFF2-40B4-BE49-F238E27FC236}">
                <a16:creationId xmlns:a16="http://schemas.microsoft.com/office/drawing/2014/main" id="{E0DA45FC-6909-7D62-20FA-2BCA4AAA7140}"/>
              </a:ext>
            </a:extLst>
          </p:cNvPr>
          <p:cNvSpPr txBox="1"/>
          <p:nvPr/>
        </p:nvSpPr>
        <p:spPr>
          <a:xfrm>
            <a:off x="1462025" y="4955736"/>
            <a:ext cx="4672075" cy="461665"/>
          </a:xfrm>
          <a:prstGeom prst="rect">
            <a:avLst/>
          </a:prstGeom>
          <a:noFill/>
        </p:spPr>
        <p:txBody>
          <a:bodyPr wrap="square" rtlCol="0">
            <a:spAutoFit/>
          </a:bodyPr>
          <a:lstStyle/>
          <a:p>
            <a:r>
              <a:rPr lang="en-US" sz="2400" b="1" dirty="0" err="1">
                <a:latin typeface="Roboto" panose="02000000000000000000" pitchFamily="2" charset="0"/>
                <a:ea typeface="Roboto" panose="02000000000000000000" pitchFamily="2" charset="0"/>
                <a:cs typeface="Roboto" panose="02000000000000000000" pitchFamily="2" charset="0"/>
              </a:rPr>
              <a:t>Kết</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luận</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và</a:t>
            </a:r>
            <a:r>
              <a:rPr lang="en-US" sz="2400" b="1" dirty="0">
                <a:latin typeface="Roboto" panose="02000000000000000000" pitchFamily="2" charset="0"/>
                <a:ea typeface="Roboto" panose="02000000000000000000" pitchFamily="2" charset="0"/>
                <a:cs typeface="Roboto" panose="02000000000000000000" pitchFamily="2" charset="0"/>
              </a:rPr>
              <a:t> h</a:t>
            </a:r>
            <a:r>
              <a:rPr lang="vi-VN" sz="2400" b="1" dirty="0">
                <a:latin typeface="Roboto" panose="02000000000000000000" pitchFamily="2" charset="0"/>
                <a:ea typeface="Roboto" panose="02000000000000000000" pitchFamily="2" charset="0"/>
                <a:cs typeface="Roboto" panose="02000000000000000000" pitchFamily="2" charset="0"/>
              </a:rPr>
              <a:t>ư</a:t>
            </a:r>
            <a:r>
              <a:rPr lang="en-US" sz="2400" b="1" dirty="0" err="1">
                <a:latin typeface="Roboto" panose="02000000000000000000" pitchFamily="2" charset="0"/>
                <a:ea typeface="Roboto" panose="02000000000000000000" pitchFamily="2" charset="0"/>
                <a:cs typeface="Roboto" panose="02000000000000000000" pitchFamily="2" charset="0"/>
              </a:rPr>
              <a:t>ớng</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phát</a:t>
            </a:r>
            <a:r>
              <a:rPr lang="en-US" sz="2400" b="1" dirty="0">
                <a:latin typeface="Roboto" panose="02000000000000000000" pitchFamily="2" charset="0"/>
                <a:ea typeface="Roboto" panose="02000000000000000000" pitchFamily="2" charset="0"/>
                <a:cs typeface="Roboto" panose="02000000000000000000" pitchFamily="2" charset="0"/>
              </a:rPr>
              <a:t> </a:t>
            </a:r>
            <a:r>
              <a:rPr lang="en-US" sz="2400" b="1" dirty="0" err="1">
                <a:latin typeface="Roboto" panose="02000000000000000000" pitchFamily="2" charset="0"/>
                <a:ea typeface="Roboto" panose="02000000000000000000" pitchFamily="2" charset="0"/>
                <a:cs typeface="Roboto" panose="02000000000000000000" pitchFamily="2" charset="0"/>
              </a:rPr>
              <a:t>triển</a:t>
            </a:r>
            <a:endParaRPr lang="en-US" sz="2400" b="1" dirty="0">
              <a:latin typeface="Roboto" panose="02000000000000000000" pitchFamily="2" charset="0"/>
              <a:ea typeface="Roboto" panose="02000000000000000000" pitchFamily="2" charset="0"/>
              <a:cs typeface="Roboto" panose="02000000000000000000" pitchFamily="2" charset="0"/>
            </a:endParaRPr>
          </a:p>
        </p:txBody>
      </p:sp>
      <p:sp>
        <p:nvSpPr>
          <p:cNvPr id="23" name="Oval 22">
            <a:extLst>
              <a:ext uri="{FF2B5EF4-FFF2-40B4-BE49-F238E27FC236}">
                <a16:creationId xmlns:a16="http://schemas.microsoft.com/office/drawing/2014/main" id="{1E880B51-5E10-3A08-320C-75D483AAC1BD}"/>
              </a:ext>
            </a:extLst>
          </p:cNvPr>
          <p:cNvSpPr/>
          <p:nvPr/>
        </p:nvSpPr>
        <p:spPr>
          <a:xfrm>
            <a:off x="653143" y="2081406"/>
            <a:ext cx="624114" cy="56605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b="1" dirty="0">
                <a:solidFill>
                  <a:schemeClr val="tx1"/>
                </a:solidFill>
                <a:latin typeface="Roboto" panose="02000000000000000000" pitchFamily="2" charset="0"/>
                <a:ea typeface="Roboto" panose="02000000000000000000" pitchFamily="2" charset="0"/>
                <a:cs typeface="Roboto" panose="02000000000000000000" pitchFamily="2" charset="0"/>
              </a:rPr>
              <a:t>1</a:t>
            </a:r>
            <a:endParaRPr lang="en-US"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Oval 23">
            <a:extLst>
              <a:ext uri="{FF2B5EF4-FFF2-40B4-BE49-F238E27FC236}">
                <a16:creationId xmlns:a16="http://schemas.microsoft.com/office/drawing/2014/main" id="{E6259B72-4AF1-8812-E283-5B9CE45C1C81}"/>
              </a:ext>
            </a:extLst>
          </p:cNvPr>
          <p:cNvSpPr/>
          <p:nvPr/>
        </p:nvSpPr>
        <p:spPr>
          <a:xfrm>
            <a:off x="653143" y="2774408"/>
            <a:ext cx="624114" cy="56605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b="1" dirty="0">
                <a:solidFill>
                  <a:schemeClr val="tx1"/>
                </a:solidFill>
                <a:latin typeface="Roboto" panose="02000000000000000000" pitchFamily="2" charset="0"/>
                <a:ea typeface="Roboto" panose="02000000000000000000" pitchFamily="2" charset="0"/>
                <a:cs typeface="Roboto" panose="02000000000000000000" pitchFamily="2" charset="0"/>
              </a:rPr>
              <a:t>2</a:t>
            </a:r>
            <a:endParaRPr lang="en-US"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Oval 24">
            <a:extLst>
              <a:ext uri="{FF2B5EF4-FFF2-40B4-BE49-F238E27FC236}">
                <a16:creationId xmlns:a16="http://schemas.microsoft.com/office/drawing/2014/main" id="{7060B410-4E72-AC69-0A63-72A0E2B018F6}"/>
              </a:ext>
            </a:extLst>
          </p:cNvPr>
          <p:cNvSpPr/>
          <p:nvPr/>
        </p:nvSpPr>
        <p:spPr>
          <a:xfrm>
            <a:off x="653143" y="3517537"/>
            <a:ext cx="624114" cy="56605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b="1" dirty="0">
                <a:solidFill>
                  <a:schemeClr val="tx1"/>
                </a:solidFill>
                <a:latin typeface="Roboto" panose="02000000000000000000" pitchFamily="2" charset="0"/>
                <a:ea typeface="Roboto" panose="02000000000000000000" pitchFamily="2" charset="0"/>
                <a:cs typeface="Roboto" panose="02000000000000000000" pitchFamily="2" charset="0"/>
              </a:rPr>
              <a:t>3</a:t>
            </a:r>
            <a:endParaRPr lang="en-US"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Oval 25">
            <a:extLst>
              <a:ext uri="{FF2B5EF4-FFF2-40B4-BE49-F238E27FC236}">
                <a16:creationId xmlns:a16="http://schemas.microsoft.com/office/drawing/2014/main" id="{F3786065-B562-7C56-1451-B9C9E818C67E}"/>
              </a:ext>
            </a:extLst>
          </p:cNvPr>
          <p:cNvSpPr/>
          <p:nvPr/>
        </p:nvSpPr>
        <p:spPr>
          <a:xfrm>
            <a:off x="653143" y="4210539"/>
            <a:ext cx="624114" cy="56605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b="1" dirty="0">
                <a:solidFill>
                  <a:schemeClr val="tx1"/>
                </a:solidFill>
                <a:latin typeface="Roboto" panose="02000000000000000000" pitchFamily="2" charset="0"/>
                <a:ea typeface="Roboto" panose="02000000000000000000" pitchFamily="2" charset="0"/>
                <a:cs typeface="Roboto" panose="02000000000000000000" pitchFamily="2" charset="0"/>
              </a:rPr>
              <a:t>4</a:t>
            </a:r>
            <a:endParaRPr lang="en-US"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7" name="Oval 26">
            <a:extLst>
              <a:ext uri="{FF2B5EF4-FFF2-40B4-BE49-F238E27FC236}">
                <a16:creationId xmlns:a16="http://schemas.microsoft.com/office/drawing/2014/main" id="{6E1D05CB-C693-7CC4-CA6F-09BC3FD53B80}"/>
              </a:ext>
            </a:extLst>
          </p:cNvPr>
          <p:cNvSpPr/>
          <p:nvPr/>
        </p:nvSpPr>
        <p:spPr>
          <a:xfrm>
            <a:off x="653143" y="4903541"/>
            <a:ext cx="624114" cy="56605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b="1" dirty="0">
                <a:solidFill>
                  <a:schemeClr val="tx1"/>
                </a:solidFill>
                <a:latin typeface="Roboto" panose="02000000000000000000" pitchFamily="2" charset="0"/>
                <a:ea typeface="Roboto" panose="02000000000000000000" pitchFamily="2" charset="0"/>
                <a:cs typeface="Roboto" panose="02000000000000000000" pitchFamily="2" charset="0"/>
              </a:rPr>
              <a:t>5</a:t>
            </a:r>
            <a:endParaRPr lang="en-US"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0202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3431267" y="816428"/>
            <a:ext cx="6685191" cy="4060372"/>
          </a:xfrm>
        </p:spPr>
        <p:txBody>
          <a:bodyPr anchor="b"/>
          <a:lstStyle/>
          <a:p>
            <a:pPr>
              <a:lnSpc>
                <a:spcPct val="100000"/>
              </a:lnSpc>
            </a:pPr>
            <a:r>
              <a:rPr lang="en-US" sz="6600" b="1" dirty="0" err="1">
                <a:latin typeface="Roboto" panose="02000000000000000000" pitchFamily="2" charset="0"/>
                <a:ea typeface="Roboto" panose="02000000000000000000" pitchFamily="2" charset="0"/>
                <a:cs typeface="Roboto" panose="02000000000000000000" pitchFamily="2" charset="0"/>
              </a:rPr>
              <a:t>Giới</a:t>
            </a:r>
            <a:r>
              <a:rPr lang="en-US" sz="6600" b="1" dirty="0">
                <a:latin typeface="Roboto" panose="02000000000000000000" pitchFamily="2" charset="0"/>
                <a:ea typeface="Roboto" panose="02000000000000000000" pitchFamily="2" charset="0"/>
                <a:cs typeface="Roboto" panose="02000000000000000000" pitchFamily="2" charset="0"/>
              </a:rPr>
              <a:t> </a:t>
            </a:r>
            <a:r>
              <a:rPr lang="en-US" sz="6600" b="1" dirty="0" err="1">
                <a:latin typeface="Roboto" panose="02000000000000000000" pitchFamily="2" charset="0"/>
                <a:ea typeface="Roboto" panose="02000000000000000000" pitchFamily="2" charset="0"/>
                <a:cs typeface="Roboto" panose="02000000000000000000" pitchFamily="2" charset="0"/>
              </a:rPr>
              <a:t>thiệu</a:t>
            </a:r>
            <a:r>
              <a:rPr lang="en-US" sz="6600" b="1" dirty="0">
                <a:latin typeface="Roboto" panose="02000000000000000000" pitchFamily="2" charset="0"/>
                <a:ea typeface="Roboto" panose="02000000000000000000" pitchFamily="2" charset="0"/>
                <a:cs typeface="Roboto" panose="02000000000000000000" pitchFamily="2" charset="0"/>
              </a:rPr>
              <a:t> </a:t>
            </a:r>
            <a:r>
              <a:rPr lang="en-US" sz="6600" b="1" dirty="0" err="1">
                <a:latin typeface="Roboto" panose="02000000000000000000" pitchFamily="2" charset="0"/>
                <a:ea typeface="Roboto" panose="02000000000000000000" pitchFamily="2" charset="0"/>
                <a:cs typeface="Roboto" panose="02000000000000000000" pitchFamily="2" charset="0"/>
              </a:rPr>
              <a:t>tổng</a:t>
            </a:r>
            <a:r>
              <a:rPr lang="en-US" sz="6600" b="1" dirty="0">
                <a:latin typeface="Roboto" panose="02000000000000000000" pitchFamily="2" charset="0"/>
                <a:ea typeface="Roboto" panose="02000000000000000000" pitchFamily="2" charset="0"/>
                <a:cs typeface="Roboto" panose="02000000000000000000" pitchFamily="2" charset="0"/>
              </a:rPr>
              <a:t> </a:t>
            </a:r>
            <a:r>
              <a:rPr lang="en-US" sz="6600" b="1" dirty="0" err="1">
                <a:latin typeface="Roboto" panose="02000000000000000000" pitchFamily="2" charset="0"/>
                <a:ea typeface="Roboto" panose="02000000000000000000" pitchFamily="2" charset="0"/>
                <a:cs typeface="Roboto" panose="02000000000000000000" pitchFamily="2" charset="0"/>
              </a:rPr>
              <a:t>quan</a:t>
            </a:r>
            <a:endParaRPr lang="en-US" sz="6600" b="1" dirty="0">
              <a:latin typeface="Roboto" panose="02000000000000000000" pitchFamily="2" charset="0"/>
              <a:ea typeface="Roboto" panose="02000000000000000000" pitchFamily="2" charset="0"/>
              <a:cs typeface="Roboto" panose="02000000000000000000" pitchFamily="2" charset="0"/>
            </a:endParaRPr>
          </a:p>
        </p:txBody>
      </p:sp>
      <p:sp>
        <p:nvSpPr>
          <p:cNvPr id="3" name="Freeform 12">
            <a:extLst>
              <a:ext uri="{FF2B5EF4-FFF2-40B4-BE49-F238E27FC236}">
                <a16:creationId xmlns:a16="http://schemas.microsoft.com/office/drawing/2014/main" id="{9F840464-62F8-26A7-9FB1-12003D4F8E7F}"/>
              </a:ext>
            </a:extLst>
          </p:cNvPr>
          <p:cNvSpPr/>
          <p:nvPr/>
        </p:nvSpPr>
        <p:spPr>
          <a:xfrm>
            <a:off x="9376229" y="-169666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12">
            <a:extLst>
              <a:ext uri="{FF2B5EF4-FFF2-40B4-BE49-F238E27FC236}">
                <a16:creationId xmlns:a16="http://schemas.microsoft.com/office/drawing/2014/main" id="{D1515148-E837-667C-09DB-0913EBDD861D}"/>
              </a:ext>
            </a:extLst>
          </p:cNvPr>
          <p:cNvSpPr/>
          <p:nvPr/>
        </p:nvSpPr>
        <p:spPr>
          <a:xfrm rot="13287298">
            <a:off x="-4391831" y="415290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D685DDF-C9BB-4B35-2D5B-CF3E6400334B}"/>
              </a:ext>
            </a:extLst>
          </p:cNvPr>
          <p:cNvSpPr txBox="1"/>
          <p:nvPr/>
        </p:nvSpPr>
        <p:spPr>
          <a:xfrm>
            <a:off x="800100" y="414408"/>
            <a:ext cx="6096000" cy="960328"/>
          </a:xfrm>
          <a:prstGeom prst="rect">
            <a:avLst/>
          </a:prstGeom>
          <a:noFill/>
        </p:spPr>
        <p:txBody>
          <a:bodyPr wrap="square">
            <a:spAutoFit/>
          </a:bodyPr>
          <a:lstStyle/>
          <a:p>
            <a:pPr marL="0" lvl="0" indent="0" algn="just">
              <a:lnSpc>
                <a:spcPts val="7920"/>
              </a:lnSpc>
            </a:pPr>
            <a:r>
              <a:rPr lang="en-US" sz="3600" b="1" u="none" strike="noStrike" dirty="0">
                <a:latin typeface="Times New Roman" panose="02020603050405020304" pitchFamily="18" charset="0"/>
                <a:ea typeface="Karnchang SemiCondensed Semi-Bold"/>
                <a:cs typeface="Times New Roman" panose="02020603050405020304" pitchFamily="18" charset="0"/>
                <a:sym typeface="Karnchang SemiCondensed Semi-Bold"/>
              </a:rPr>
              <a:t>1. Lý do </a:t>
            </a:r>
            <a:r>
              <a:rPr lang="en-US" sz="3600" b="1" u="none" strike="noStrike" dirty="0" err="1">
                <a:latin typeface="Times New Roman" panose="02020603050405020304" pitchFamily="18" charset="0"/>
                <a:ea typeface="Karnchang SemiCondensed Semi-Bold"/>
                <a:cs typeface="Times New Roman" panose="02020603050405020304" pitchFamily="18" charset="0"/>
                <a:sym typeface="Karnchang SemiCondensed Semi-Bold"/>
              </a:rPr>
              <a:t>chọn</a:t>
            </a:r>
            <a:r>
              <a:rPr lang="en-US" sz="3600" b="1" u="none" strike="noStrike" dirty="0">
                <a:latin typeface="Times New Roman" panose="02020603050405020304" pitchFamily="18" charset="0"/>
                <a:ea typeface="Karnchang SemiCondensed Semi-Bold"/>
                <a:cs typeface="Times New Roman" panose="02020603050405020304" pitchFamily="18" charset="0"/>
                <a:sym typeface="Karnchang SemiCondensed Semi-Bold"/>
              </a:rPr>
              <a:t> </a:t>
            </a:r>
            <a:r>
              <a:rPr lang="en-US" sz="3600" b="1" u="none" strike="noStrike" dirty="0" err="1">
                <a:latin typeface="Times New Roman" panose="02020603050405020304" pitchFamily="18" charset="0"/>
                <a:ea typeface="Karnchang SemiCondensed Semi-Bold"/>
                <a:cs typeface="Times New Roman" panose="02020603050405020304" pitchFamily="18" charset="0"/>
                <a:sym typeface="Karnchang SemiCondensed Semi-Bold"/>
              </a:rPr>
              <a:t>đề</a:t>
            </a:r>
            <a:r>
              <a:rPr lang="en-US" sz="3600" b="1" u="none" strike="noStrike" dirty="0">
                <a:latin typeface="Times New Roman" panose="02020603050405020304" pitchFamily="18" charset="0"/>
                <a:ea typeface="Karnchang SemiCondensed Semi-Bold"/>
                <a:cs typeface="Times New Roman" panose="02020603050405020304" pitchFamily="18" charset="0"/>
                <a:sym typeface="Karnchang SemiCondensed Semi-Bold"/>
              </a:rPr>
              <a:t> </a:t>
            </a:r>
            <a:r>
              <a:rPr lang="en-US" sz="3600" b="1" u="none" strike="noStrike" dirty="0" err="1">
                <a:latin typeface="Times New Roman" panose="02020603050405020304" pitchFamily="18" charset="0"/>
                <a:ea typeface="Karnchang SemiCondensed Semi-Bold"/>
                <a:cs typeface="Times New Roman" panose="02020603050405020304" pitchFamily="18" charset="0"/>
                <a:sym typeface="Karnchang SemiCondensed Semi-Bold"/>
              </a:rPr>
              <a:t>tài</a:t>
            </a:r>
            <a:endParaRPr lang="en-US" sz="3600" b="1" u="none" strike="noStrike" dirty="0">
              <a:latin typeface="Times New Roman" panose="02020603050405020304" pitchFamily="18" charset="0"/>
              <a:ea typeface="Karnchang SemiCondensed Semi-Bold"/>
              <a:cs typeface="Times New Roman" panose="02020603050405020304" pitchFamily="18" charset="0"/>
              <a:sym typeface="Karnchang SemiCondensed Semi-Bold"/>
            </a:endParaRPr>
          </a:p>
        </p:txBody>
      </p:sp>
      <p:sp>
        <p:nvSpPr>
          <p:cNvPr id="12" name="TextBox 11">
            <a:extLst>
              <a:ext uri="{FF2B5EF4-FFF2-40B4-BE49-F238E27FC236}">
                <a16:creationId xmlns:a16="http://schemas.microsoft.com/office/drawing/2014/main" id="{7EE03E5C-BC36-094F-9F16-90B4944DF604}"/>
              </a:ext>
            </a:extLst>
          </p:cNvPr>
          <p:cNvSpPr txBox="1"/>
          <p:nvPr/>
        </p:nvSpPr>
        <p:spPr>
          <a:xfrm>
            <a:off x="800101" y="1749335"/>
            <a:ext cx="5133156" cy="1703030"/>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kumimoji="0" lang="vi-VN" alt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Bối cảnh: </a:t>
            </a:r>
          </a:p>
          <a:p>
            <a:pPr marR="0" lvl="0" algn="just" defTabSz="914400" rtl="0" eaLnBrk="0" fontAlgn="base" latinLnBrk="0" hangingPunct="0">
              <a:lnSpc>
                <a:spcPct val="150000"/>
              </a:lnSpc>
              <a:spcBef>
                <a:spcPct val="0"/>
              </a:spcBef>
              <a:spcAft>
                <a:spcPct val="0"/>
              </a:spcAft>
              <a:buClrTx/>
              <a:buSzTx/>
              <a:tabLst/>
            </a:pPr>
            <a:r>
              <a:rPr kumimoji="0" lang="vi-VN" altLang="en-US" sz="180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Trong xu thế chuyển đổi số giáo dục, việc hiện đại hóa công tác đảm bảo an ninh trường học là yêu cầu cấp thiết để tối ưu hóa vận hành.</a:t>
            </a:r>
          </a:p>
        </p:txBody>
      </p:sp>
      <p:sp>
        <p:nvSpPr>
          <p:cNvPr id="2" name="TextBox 1">
            <a:extLst>
              <a:ext uri="{FF2B5EF4-FFF2-40B4-BE49-F238E27FC236}">
                <a16:creationId xmlns:a16="http://schemas.microsoft.com/office/drawing/2014/main" id="{A7F456BF-734E-7067-E718-C4F2989248EC}"/>
              </a:ext>
            </a:extLst>
          </p:cNvPr>
          <p:cNvSpPr txBox="1"/>
          <p:nvPr/>
        </p:nvSpPr>
        <p:spPr>
          <a:xfrm>
            <a:off x="6096000" y="1755595"/>
            <a:ext cx="5380109" cy="1704569"/>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kumimoji="0" lang="vi-VN" alt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Hạn chế hiện tại: </a:t>
            </a:r>
          </a:p>
          <a:p>
            <a:pPr marR="0" lvl="0" algn="just" defTabSz="914400" rtl="0" eaLnBrk="0" fontAlgn="base" latinLnBrk="0" hangingPunct="0">
              <a:lnSpc>
                <a:spcPct val="150000"/>
              </a:lnSpc>
              <a:spcBef>
                <a:spcPct val="0"/>
              </a:spcBef>
              <a:spcAft>
                <a:spcPct val="0"/>
              </a:spcAft>
              <a:buClrTx/>
              <a:buSzTx/>
              <a:tabLst/>
            </a:pPr>
            <a:r>
              <a:rPr kumimoji="0" lang="vi-VN" altLang="en-US" sz="180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Camera truyền thống ghi hình thụ động và phụ thuộc con người, dẫn đến phản ứng chậm, khó quản lý tập trung.</a:t>
            </a:r>
          </a:p>
        </p:txBody>
      </p:sp>
      <p:sp>
        <p:nvSpPr>
          <p:cNvPr id="3" name="TextBox 2">
            <a:extLst>
              <a:ext uri="{FF2B5EF4-FFF2-40B4-BE49-F238E27FC236}">
                <a16:creationId xmlns:a16="http://schemas.microsoft.com/office/drawing/2014/main" id="{8967679C-179D-DBC0-A812-9D7D93DFB237}"/>
              </a:ext>
            </a:extLst>
          </p:cNvPr>
          <p:cNvSpPr txBox="1"/>
          <p:nvPr/>
        </p:nvSpPr>
        <p:spPr>
          <a:xfrm>
            <a:off x="800100" y="3932930"/>
            <a:ext cx="5124451" cy="1704569"/>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kumimoji="0" lang="vi-VN" alt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Giải pháp:</a:t>
            </a:r>
          </a:p>
          <a:p>
            <a:pPr marR="0" lvl="0" algn="just" defTabSz="914400" rtl="0" eaLnBrk="0" fontAlgn="base" latinLnBrk="0" hangingPunct="0">
              <a:lnSpc>
                <a:spcPct val="150000"/>
              </a:lnSpc>
              <a:spcBef>
                <a:spcPct val="0"/>
              </a:spcBef>
              <a:spcAft>
                <a:spcPct val="0"/>
              </a:spcAft>
              <a:buClrTx/>
              <a:buSzTx/>
              <a:tabLst/>
            </a:pPr>
            <a:r>
              <a:rPr kumimoji="0" lang="vi-VN" altLang="en-US" sz="180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Kết hợp thị giác máy tính để phát hiện sự kiện và Gemini để hỗ trợ tra cứu quy trình xử lý, tổng hợp báo cáo.</a:t>
            </a:r>
          </a:p>
        </p:txBody>
      </p:sp>
      <p:sp>
        <p:nvSpPr>
          <p:cNvPr id="4" name="TextBox 3">
            <a:extLst>
              <a:ext uri="{FF2B5EF4-FFF2-40B4-BE49-F238E27FC236}">
                <a16:creationId xmlns:a16="http://schemas.microsoft.com/office/drawing/2014/main" id="{F44A3117-F494-1A90-94F4-5858B99F7B4C}"/>
              </a:ext>
            </a:extLst>
          </p:cNvPr>
          <p:cNvSpPr txBox="1"/>
          <p:nvPr/>
        </p:nvSpPr>
        <p:spPr>
          <a:xfrm>
            <a:off x="6096001" y="3939190"/>
            <a:ext cx="5295899" cy="1708160"/>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kumimoji="0" lang="vi-VN" alt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Lợi ích:</a:t>
            </a:r>
          </a:p>
          <a:p>
            <a:pPr marR="0" lvl="0" algn="just" defTabSz="914400" rtl="0" eaLnBrk="0" fontAlgn="base" latinLnBrk="0" hangingPunct="0">
              <a:lnSpc>
                <a:spcPct val="150000"/>
              </a:lnSpc>
              <a:spcBef>
                <a:spcPct val="0"/>
              </a:spcBef>
              <a:spcAft>
                <a:spcPct val="0"/>
              </a:spcAft>
              <a:buClrTx/>
              <a:buSzTx/>
              <a:tabLst/>
            </a:pPr>
            <a:r>
              <a:rPr kumimoji="0" lang="vi-VN" altLang="en-US" sz="180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Quản lý tập trung camera, sự kiện và bằng chứng; hỗ trợ nhân viên xác minh, phối hợp xử lý sự cố.</a:t>
            </a:r>
          </a:p>
        </p:txBody>
      </p:sp>
      <p:sp>
        <p:nvSpPr>
          <p:cNvPr id="5" name="Shape 2">
            <a:extLst>
              <a:ext uri="{FF2B5EF4-FFF2-40B4-BE49-F238E27FC236}">
                <a16:creationId xmlns:a16="http://schemas.microsoft.com/office/drawing/2014/main" id="{E30840BD-6D62-CD38-D8D1-CB95A77CDCA1}"/>
              </a:ext>
            </a:extLst>
          </p:cNvPr>
          <p:cNvSpPr/>
          <p:nvPr/>
        </p:nvSpPr>
        <p:spPr>
          <a:xfrm>
            <a:off x="800099" y="2134345"/>
            <a:ext cx="5059291" cy="45719"/>
          </a:xfrm>
          <a:prstGeom prst="rect">
            <a:avLst/>
          </a:prstGeom>
          <a:solidFill>
            <a:srgbClr val="FF0E0E"/>
          </a:solidFill>
          <a:ln/>
        </p:spPr>
        <p:txBody>
          <a:bodyPr/>
          <a:lstStyle/>
          <a:p>
            <a:pPr algn="just"/>
            <a:endParaRPr lang="vi-VN"/>
          </a:p>
        </p:txBody>
      </p:sp>
      <p:sp>
        <p:nvSpPr>
          <p:cNvPr id="6" name="Shape 6">
            <a:extLst>
              <a:ext uri="{FF2B5EF4-FFF2-40B4-BE49-F238E27FC236}">
                <a16:creationId xmlns:a16="http://schemas.microsoft.com/office/drawing/2014/main" id="{99B70A30-DE2A-1608-75F1-DF597E3C5B3D}"/>
              </a:ext>
            </a:extLst>
          </p:cNvPr>
          <p:cNvSpPr/>
          <p:nvPr/>
        </p:nvSpPr>
        <p:spPr>
          <a:xfrm>
            <a:off x="6149610" y="2172096"/>
            <a:ext cx="5242289" cy="45719"/>
          </a:xfrm>
          <a:prstGeom prst="rect">
            <a:avLst/>
          </a:prstGeom>
          <a:solidFill>
            <a:srgbClr val="FF0E0E"/>
          </a:solidFill>
          <a:ln/>
        </p:spPr>
        <p:txBody>
          <a:bodyPr/>
          <a:lstStyle/>
          <a:p>
            <a:pPr algn="just"/>
            <a:endParaRPr lang="vi-VN"/>
          </a:p>
        </p:txBody>
      </p:sp>
      <p:sp>
        <p:nvSpPr>
          <p:cNvPr id="7" name="Shape 10">
            <a:extLst>
              <a:ext uri="{FF2B5EF4-FFF2-40B4-BE49-F238E27FC236}">
                <a16:creationId xmlns:a16="http://schemas.microsoft.com/office/drawing/2014/main" id="{2DB991F3-3142-6F6D-D0BA-505E5911015C}"/>
              </a:ext>
            </a:extLst>
          </p:cNvPr>
          <p:cNvSpPr/>
          <p:nvPr/>
        </p:nvSpPr>
        <p:spPr>
          <a:xfrm>
            <a:off x="800099" y="4352942"/>
            <a:ext cx="5059291" cy="45719"/>
          </a:xfrm>
          <a:prstGeom prst="rect">
            <a:avLst/>
          </a:prstGeom>
          <a:solidFill>
            <a:srgbClr val="FF0E0E"/>
          </a:solidFill>
          <a:ln/>
        </p:spPr>
        <p:txBody>
          <a:bodyPr/>
          <a:lstStyle/>
          <a:p>
            <a:pPr algn="just"/>
            <a:endParaRPr lang="vi-VN"/>
          </a:p>
        </p:txBody>
      </p:sp>
      <p:sp>
        <p:nvSpPr>
          <p:cNvPr id="8" name="Shape 14">
            <a:extLst>
              <a:ext uri="{FF2B5EF4-FFF2-40B4-BE49-F238E27FC236}">
                <a16:creationId xmlns:a16="http://schemas.microsoft.com/office/drawing/2014/main" id="{9E31AA1D-01FC-F368-8A90-5B7A4418139D}"/>
              </a:ext>
            </a:extLst>
          </p:cNvPr>
          <p:cNvSpPr/>
          <p:nvPr/>
        </p:nvSpPr>
        <p:spPr>
          <a:xfrm>
            <a:off x="6149610" y="4390693"/>
            <a:ext cx="5242289" cy="45719"/>
          </a:xfrm>
          <a:prstGeom prst="rect">
            <a:avLst/>
          </a:prstGeom>
          <a:solidFill>
            <a:srgbClr val="FF0E0E"/>
          </a:solidFill>
          <a:ln/>
        </p:spPr>
        <p:txBody>
          <a:bodyPr/>
          <a:lstStyle/>
          <a:p>
            <a:pPr algn="just"/>
            <a:endParaRPr lang="vi-VN"/>
          </a:p>
        </p:txBody>
      </p:sp>
    </p:spTree>
    <p:extLst>
      <p:ext uri="{BB962C8B-B14F-4D97-AF65-F5344CB8AC3E}">
        <p14:creationId xmlns:p14="http://schemas.microsoft.com/office/powerpoint/2010/main" val="3408536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FB1BE-CF21-4859-E5E3-FB8FB2AA808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127E7C6-B714-E918-D6C7-5DF3523E9AA3}"/>
              </a:ext>
            </a:extLst>
          </p:cNvPr>
          <p:cNvSpPr txBox="1"/>
          <p:nvPr/>
        </p:nvSpPr>
        <p:spPr>
          <a:xfrm>
            <a:off x="704850" y="414408"/>
            <a:ext cx="6096000" cy="960328"/>
          </a:xfrm>
          <a:prstGeom prst="rect">
            <a:avLst/>
          </a:prstGeom>
          <a:noFill/>
        </p:spPr>
        <p:txBody>
          <a:bodyPr wrap="square">
            <a:spAutoFit/>
          </a:bodyPr>
          <a:lstStyle/>
          <a:p>
            <a:pPr marL="0" lvl="0" indent="0" algn="just">
              <a:lnSpc>
                <a:spcPts val="7920"/>
              </a:lnSpc>
            </a:pPr>
            <a:r>
              <a:rPr lang="vi-VN" sz="3600" b="1" dirty="0">
                <a:latin typeface="Times New Roman" panose="02020603050405020304" pitchFamily="18" charset="0"/>
                <a:ea typeface="Karnchang SemiCondensed Semi-Bold"/>
                <a:cs typeface="Times New Roman" panose="02020603050405020304" pitchFamily="18" charset="0"/>
                <a:sym typeface="Karnchang SemiCondensed Semi-Bold"/>
              </a:rPr>
              <a:t>2</a:t>
            </a:r>
            <a:r>
              <a:rPr lang="en-US" sz="3600" b="1" u="none" strike="noStrike" dirty="0">
                <a:latin typeface="Times New Roman" panose="02020603050405020304" pitchFamily="18" charset="0"/>
                <a:ea typeface="Karnchang SemiCondensed Semi-Bold"/>
                <a:cs typeface="Times New Roman" panose="02020603050405020304" pitchFamily="18" charset="0"/>
                <a:sym typeface="Karnchang SemiCondensed Semi-Bold"/>
              </a:rPr>
              <a:t>. MỤC TIÊU ĐỀ TÀI</a:t>
            </a:r>
          </a:p>
        </p:txBody>
      </p:sp>
      <p:sp>
        <p:nvSpPr>
          <p:cNvPr id="12" name="TextBox 11">
            <a:extLst>
              <a:ext uri="{FF2B5EF4-FFF2-40B4-BE49-F238E27FC236}">
                <a16:creationId xmlns:a16="http://schemas.microsoft.com/office/drawing/2014/main" id="{D0EF91CD-9533-8F27-D489-DA5DD93F997F}"/>
              </a:ext>
            </a:extLst>
          </p:cNvPr>
          <p:cNvSpPr txBox="1"/>
          <p:nvPr/>
        </p:nvSpPr>
        <p:spPr>
          <a:xfrm>
            <a:off x="731044" y="1448136"/>
            <a:ext cx="11029950" cy="882293"/>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kumimoji="0" lang="vi-VN" altLang="en-US" sz="2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Mục tiêu tổng quát: </a:t>
            </a:r>
            <a:endParaRPr lang="vi-VN" altLang="en-US" sz="2000" b="1" dirty="0">
              <a:latin typeface="Roboto" panose="02000000000000000000" pitchFamily="2" charset="0"/>
              <a:ea typeface="Roboto" panose="02000000000000000000" pitchFamily="2" charset="0"/>
              <a:cs typeface="Roboto" panose="02000000000000000000" pitchFamily="2" charset="0"/>
            </a:endParaRPr>
          </a:p>
          <a:p>
            <a:pPr marR="0" lvl="0" algn="just" defTabSz="914400" rtl="0" eaLnBrk="0" fontAlgn="base" latinLnBrk="0" hangingPunct="0">
              <a:lnSpc>
                <a:spcPct val="150000"/>
              </a:lnSpc>
              <a:spcBef>
                <a:spcPct val="0"/>
              </a:spcBef>
              <a:spcAft>
                <a:spcPct val="0"/>
              </a:spcAft>
              <a:buClrTx/>
              <a:buSzTx/>
              <a:tabLst/>
            </a:pPr>
            <a:r>
              <a:rPr kumimoji="0" lang="vi-VN" altLang="en-US" sz="160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Xây dựng hệ thống Web và Mobile tích hợp AI nhằm hỗ trợ quản lý và giám sát an ninh thông minh trong trường đại học.</a:t>
            </a:r>
          </a:p>
        </p:txBody>
      </p:sp>
      <p:sp>
        <p:nvSpPr>
          <p:cNvPr id="2" name="TextBox 1">
            <a:extLst>
              <a:ext uri="{FF2B5EF4-FFF2-40B4-BE49-F238E27FC236}">
                <a16:creationId xmlns:a16="http://schemas.microsoft.com/office/drawing/2014/main" id="{A4B4D042-583D-F71E-7D78-5462CE037054}"/>
              </a:ext>
            </a:extLst>
          </p:cNvPr>
          <p:cNvSpPr txBox="1"/>
          <p:nvPr/>
        </p:nvSpPr>
        <p:spPr>
          <a:xfrm>
            <a:off x="731044" y="2479780"/>
            <a:ext cx="2276475" cy="400110"/>
          </a:xfrm>
          <a:prstGeom prst="rect">
            <a:avLst/>
          </a:prstGeom>
          <a:noFill/>
        </p:spPr>
        <p:txBody>
          <a:bodyPr wrap="square" rtlCol="0">
            <a:spAutoFit/>
          </a:bodyPr>
          <a:lstStyle/>
          <a:p>
            <a:pPr algn="just"/>
            <a:r>
              <a:rPr lang="vi-VN" sz="2000" b="1" dirty="0">
                <a:latin typeface="Roboto" panose="02000000000000000000" pitchFamily="2" charset="0"/>
                <a:ea typeface="Roboto" panose="02000000000000000000" pitchFamily="2" charset="0"/>
                <a:cs typeface="Roboto" panose="02000000000000000000" pitchFamily="2" charset="0"/>
              </a:rPr>
              <a:t>Mục tiêu cụ thể:</a:t>
            </a:r>
          </a:p>
        </p:txBody>
      </p:sp>
      <p:sp>
        <p:nvSpPr>
          <p:cNvPr id="3" name="TextBox 2">
            <a:extLst>
              <a:ext uri="{FF2B5EF4-FFF2-40B4-BE49-F238E27FC236}">
                <a16:creationId xmlns:a16="http://schemas.microsoft.com/office/drawing/2014/main" id="{BC401A2B-DF7D-11A6-44AD-7CE10D6EC31A}"/>
              </a:ext>
            </a:extLst>
          </p:cNvPr>
          <p:cNvSpPr txBox="1"/>
          <p:nvPr/>
        </p:nvSpPr>
        <p:spPr>
          <a:xfrm>
            <a:off x="936032" y="3302641"/>
            <a:ext cx="2776722" cy="369332"/>
          </a:xfrm>
          <a:prstGeom prst="rect">
            <a:avLst/>
          </a:prstGeom>
          <a:noFill/>
        </p:spPr>
        <p:txBody>
          <a:bodyPr wrap="none" rtlCol="0">
            <a:spAutoFit/>
          </a:bodyPr>
          <a:lstStyle/>
          <a:p>
            <a:pPr algn="just"/>
            <a:r>
              <a:rPr lang="en-US" b="1" dirty="0" err="1">
                <a:latin typeface="Roboto" panose="02000000000000000000" pitchFamily="2" charset="0"/>
                <a:ea typeface="Roboto" panose="02000000000000000000" pitchFamily="2" charset="0"/>
                <a:cs typeface="Roboto" panose="02000000000000000000" pitchFamily="2" charset="0"/>
              </a:rPr>
              <a:t>Giám</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sát</a:t>
            </a:r>
            <a:r>
              <a:rPr lang="en-US" b="1" dirty="0">
                <a:latin typeface="Roboto" panose="02000000000000000000" pitchFamily="2" charset="0"/>
                <a:ea typeface="Roboto" panose="02000000000000000000" pitchFamily="2" charset="0"/>
                <a:cs typeface="Roboto" panose="02000000000000000000" pitchFamily="2" charset="0"/>
              </a:rPr>
              <a:t> an </a:t>
            </a:r>
            <a:r>
              <a:rPr lang="en-US" b="1" dirty="0" err="1">
                <a:latin typeface="Roboto" panose="02000000000000000000" pitchFamily="2" charset="0"/>
                <a:ea typeface="Roboto" panose="02000000000000000000" pitchFamily="2" charset="0"/>
                <a:cs typeface="Roboto" panose="02000000000000000000" pitchFamily="2" charset="0"/>
              </a:rPr>
              <a:t>ninh</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bằng</a:t>
            </a:r>
            <a:r>
              <a:rPr lang="en-US" b="1" dirty="0">
                <a:latin typeface="Roboto" panose="02000000000000000000" pitchFamily="2" charset="0"/>
                <a:ea typeface="Roboto" panose="02000000000000000000" pitchFamily="2" charset="0"/>
                <a:cs typeface="Roboto" panose="02000000000000000000" pitchFamily="2" charset="0"/>
              </a:rPr>
              <a:t> AI</a:t>
            </a:r>
          </a:p>
        </p:txBody>
      </p:sp>
      <p:sp>
        <p:nvSpPr>
          <p:cNvPr id="4" name="TextBox 3">
            <a:extLst>
              <a:ext uri="{FF2B5EF4-FFF2-40B4-BE49-F238E27FC236}">
                <a16:creationId xmlns:a16="http://schemas.microsoft.com/office/drawing/2014/main" id="{CD61BFC4-58F1-4B0D-192D-1D53CAB62DF9}"/>
              </a:ext>
            </a:extLst>
          </p:cNvPr>
          <p:cNvSpPr txBox="1"/>
          <p:nvPr/>
        </p:nvSpPr>
        <p:spPr>
          <a:xfrm>
            <a:off x="1095374" y="3671889"/>
            <a:ext cx="4810127" cy="830997"/>
          </a:xfrm>
          <a:prstGeom prst="rect">
            <a:avLst/>
          </a:prstGeom>
          <a:noFill/>
        </p:spPr>
        <p:txBody>
          <a:bodyPr wrap="square" rtlCol="0">
            <a:spAutoFit/>
          </a:bodyPr>
          <a:lstStyle/>
          <a:p>
            <a:pPr algn="just"/>
            <a:r>
              <a:rPr lang="vi-VN" sz="1600" dirty="0">
                <a:latin typeface="Roboto" panose="02000000000000000000" pitchFamily="2" charset="0"/>
                <a:ea typeface="Roboto" panose="02000000000000000000" pitchFamily="2" charset="0"/>
                <a:cs typeface="Roboto" panose="02000000000000000000" pitchFamily="2" charset="0"/>
              </a:rPr>
              <a:t>Tích hợp YOLOv8 cho hành vi, YOLOv8s cho vũ khí và InsightFace cho danh tính; phát hiện đám đông theo số người và thời gian.</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B1051362-BD97-D1AB-BD90-4EC370CE37BC}"/>
              </a:ext>
            </a:extLst>
          </p:cNvPr>
          <p:cNvSpPr txBox="1"/>
          <p:nvPr/>
        </p:nvSpPr>
        <p:spPr>
          <a:xfrm>
            <a:off x="6507578" y="3296177"/>
            <a:ext cx="3502882" cy="369332"/>
          </a:xfrm>
          <a:prstGeom prst="rect">
            <a:avLst/>
          </a:prstGeom>
          <a:noFill/>
        </p:spPr>
        <p:txBody>
          <a:bodyPr wrap="none" rtlCol="0">
            <a:spAutoFit/>
          </a:bodyPr>
          <a:lstStyle/>
          <a:p>
            <a:pPr algn="just"/>
            <a:r>
              <a:rPr lang="vi-VN" b="1" dirty="0">
                <a:latin typeface="Roboto" panose="02000000000000000000" pitchFamily="2" charset="0"/>
                <a:ea typeface="Roboto" panose="02000000000000000000" pitchFamily="2" charset="0"/>
                <a:cs typeface="Roboto" panose="02000000000000000000" pitchFamily="2" charset="0"/>
              </a:rPr>
              <a:t>Tối ưu quy trình quản lý vi phạm</a:t>
            </a:r>
            <a:endParaRPr lang="en-US" b="1"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3CC05ADC-A337-08E2-3A99-ACC7793D7B5E}"/>
              </a:ext>
            </a:extLst>
          </p:cNvPr>
          <p:cNvSpPr txBox="1"/>
          <p:nvPr/>
        </p:nvSpPr>
        <p:spPr>
          <a:xfrm>
            <a:off x="6577745" y="3671728"/>
            <a:ext cx="4810128" cy="830997"/>
          </a:xfrm>
          <a:prstGeom prst="rect">
            <a:avLst/>
          </a:prstGeom>
          <a:noFill/>
        </p:spPr>
        <p:txBody>
          <a:bodyPr wrap="square" rtlCol="0">
            <a:spAutoFit/>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Dashboard </a:t>
            </a:r>
            <a:r>
              <a:rPr lang="en-US" sz="1600" dirty="0" err="1">
                <a:latin typeface="Roboto" panose="02000000000000000000" pitchFamily="2" charset="0"/>
                <a:ea typeface="Roboto" panose="02000000000000000000" pitchFamily="2" charset="0"/>
                <a:cs typeface="Roboto" panose="02000000000000000000" pitchFamily="2" charset="0"/>
              </a:rPr>
              <a:t>trực</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quan</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giúp</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theo</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dõi</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chỉ</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số</a:t>
            </a:r>
            <a:r>
              <a:rPr lang="en-US" sz="1600" dirty="0">
                <a:latin typeface="Roboto" panose="02000000000000000000" pitchFamily="2" charset="0"/>
                <a:ea typeface="Roboto" panose="02000000000000000000" pitchFamily="2" charset="0"/>
                <a:cs typeface="Roboto" panose="02000000000000000000" pitchFamily="2" charset="0"/>
              </a:rPr>
              <a:t> an </a:t>
            </a:r>
            <a:r>
              <a:rPr lang="en-US" sz="1600" dirty="0" err="1">
                <a:latin typeface="Roboto" panose="02000000000000000000" pitchFamily="2" charset="0"/>
                <a:ea typeface="Roboto" panose="02000000000000000000" pitchFamily="2" charset="0"/>
                <a:cs typeface="Roboto" panose="02000000000000000000" pitchFamily="2" charset="0"/>
              </a:rPr>
              <a:t>ninh</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và</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cập</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nhật</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trạng</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thái</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xử</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lý</a:t>
            </a:r>
            <a:r>
              <a:rPr lang="en-US" sz="1600" dirty="0">
                <a:latin typeface="Roboto" panose="02000000000000000000" pitchFamily="2" charset="0"/>
                <a:ea typeface="Roboto" panose="02000000000000000000" pitchFamily="2" charset="0"/>
                <a:cs typeface="Roboto" panose="02000000000000000000" pitchFamily="2" charset="0"/>
              </a:rPr>
              <a:t> vi </a:t>
            </a:r>
            <a:r>
              <a:rPr lang="en-US" sz="1600" dirty="0" err="1">
                <a:latin typeface="Roboto" panose="02000000000000000000" pitchFamily="2" charset="0"/>
                <a:ea typeface="Roboto" panose="02000000000000000000" pitchFamily="2" charset="0"/>
                <a:cs typeface="Roboto" panose="02000000000000000000" pitchFamily="2" charset="0"/>
              </a:rPr>
              <a:t>phạm</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minh</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bạch</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nhanh</a:t>
            </a:r>
            <a:r>
              <a:rPr lang="en-US" sz="1600" dirty="0">
                <a:latin typeface="Roboto" panose="02000000000000000000" pitchFamily="2" charset="0"/>
                <a:ea typeface="Roboto" panose="02000000000000000000" pitchFamily="2" charset="0"/>
                <a:cs typeface="Roboto" panose="02000000000000000000" pitchFamily="2" charset="0"/>
              </a:rPr>
              <a:t> </a:t>
            </a:r>
            <a:r>
              <a:rPr lang="en-US" sz="1600" dirty="0" err="1">
                <a:latin typeface="Roboto" panose="02000000000000000000" pitchFamily="2" charset="0"/>
                <a:ea typeface="Roboto" panose="02000000000000000000" pitchFamily="2" charset="0"/>
                <a:cs typeface="Roboto" panose="02000000000000000000" pitchFamily="2" charset="0"/>
              </a:rPr>
              <a:t>chóng</a:t>
            </a:r>
            <a:r>
              <a:rPr lang="en-US" sz="1600" dirty="0">
                <a:latin typeface="Roboto" panose="02000000000000000000" pitchFamily="2" charset="0"/>
                <a:ea typeface="Roboto" panose="02000000000000000000" pitchFamily="2" charset="0"/>
                <a:cs typeface="Roboto" panose="02000000000000000000" pitchFamily="2" charset="0"/>
              </a:rPr>
              <a:t>.</a:t>
            </a:r>
          </a:p>
        </p:txBody>
      </p:sp>
      <p:sp>
        <p:nvSpPr>
          <p:cNvPr id="7" name="TextBox 6">
            <a:extLst>
              <a:ext uri="{FF2B5EF4-FFF2-40B4-BE49-F238E27FC236}">
                <a16:creationId xmlns:a16="http://schemas.microsoft.com/office/drawing/2014/main" id="{CF4D7C1A-C510-17D7-EAB5-364DB38C4ADC}"/>
              </a:ext>
            </a:extLst>
          </p:cNvPr>
          <p:cNvSpPr txBox="1"/>
          <p:nvPr/>
        </p:nvSpPr>
        <p:spPr>
          <a:xfrm>
            <a:off x="937477" y="4996173"/>
            <a:ext cx="4549411" cy="369332"/>
          </a:xfrm>
          <a:prstGeom prst="rect">
            <a:avLst/>
          </a:prstGeom>
          <a:noFill/>
        </p:spPr>
        <p:txBody>
          <a:bodyPr wrap="square" rtlCol="0">
            <a:spAutoFit/>
          </a:bodyPr>
          <a:lstStyle/>
          <a:p>
            <a:pPr algn="just"/>
            <a:r>
              <a:rPr lang="en-US" b="1" dirty="0" err="1">
                <a:latin typeface="Roboto" panose="02000000000000000000" pitchFamily="2" charset="0"/>
                <a:ea typeface="Roboto" panose="02000000000000000000" pitchFamily="2" charset="0"/>
                <a:cs typeface="Roboto" panose="02000000000000000000" pitchFamily="2" charset="0"/>
              </a:rPr>
              <a:t>Tự</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động</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hóa</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thống</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kê</a:t>
            </a:r>
            <a:r>
              <a:rPr lang="en-US" b="1" dirty="0">
                <a:latin typeface="Roboto" panose="02000000000000000000" pitchFamily="2" charset="0"/>
                <a:ea typeface="Roboto" panose="02000000000000000000" pitchFamily="2" charset="0"/>
                <a:cs typeface="Roboto" panose="02000000000000000000" pitchFamily="2" charset="0"/>
              </a:rPr>
              <a:t> &amp; Báo </a:t>
            </a:r>
            <a:r>
              <a:rPr lang="en-US" b="1" dirty="0" err="1">
                <a:latin typeface="Roboto" panose="02000000000000000000" pitchFamily="2" charset="0"/>
                <a:ea typeface="Roboto" panose="02000000000000000000" pitchFamily="2" charset="0"/>
                <a:cs typeface="Roboto" panose="02000000000000000000" pitchFamily="2" charset="0"/>
              </a:rPr>
              <a:t>cáo</a:t>
            </a:r>
            <a:endParaRPr lang="en-US" b="1"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D54719B6-E8EE-329E-3C30-6D25E1AA7949}"/>
              </a:ext>
            </a:extLst>
          </p:cNvPr>
          <p:cNvSpPr txBox="1"/>
          <p:nvPr/>
        </p:nvSpPr>
        <p:spPr>
          <a:xfrm>
            <a:off x="1175602" y="5368782"/>
            <a:ext cx="4905375" cy="830997"/>
          </a:xfrm>
          <a:prstGeom prst="rect">
            <a:avLst/>
          </a:prstGeom>
          <a:noFill/>
        </p:spPr>
        <p:txBody>
          <a:bodyPr wrap="square" rtlCol="0">
            <a:spAutoFit/>
          </a:bodyPr>
          <a:lstStyle/>
          <a:p>
            <a:pPr algn="just"/>
            <a:r>
              <a:rPr lang="vi-VN" sz="1600" dirty="0">
                <a:latin typeface="Roboto" panose="02000000000000000000" pitchFamily="2" charset="0"/>
                <a:ea typeface="Roboto" panose="02000000000000000000" pitchFamily="2" charset="0"/>
                <a:cs typeface="Roboto" panose="02000000000000000000" pitchFamily="2" charset="0"/>
              </a:rPr>
              <a:t>Tổng hợp sự kiện, trực quan hóa thống kê và hỗ trợ dự thảo báo cáo ca trực bằng Gemini để nhân viên kiểm tra, lưu lại.</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4977F70D-3327-FFA4-1596-2A7AE6EA5927}"/>
              </a:ext>
            </a:extLst>
          </p:cNvPr>
          <p:cNvSpPr txBox="1"/>
          <p:nvPr/>
        </p:nvSpPr>
        <p:spPr>
          <a:xfrm>
            <a:off x="6507578" y="4968717"/>
            <a:ext cx="4132059" cy="369332"/>
          </a:xfrm>
          <a:prstGeom prst="rect">
            <a:avLst/>
          </a:prstGeom>
          <a:noFill/>
        </p:spPr>
        <p:txBody>
          <a:bodyPr wrap="square" rtlCol="0">
            <a:spAutoFit/>
          </a:bodyPr>
          <a:lstStyle/>
          <a:p>
            <a:pPr algn="just"/>
            <a:r>
              <a:rPr lang="en-US" b="1" dirty="0" err="1">
                <a:latin typeface="Roboto" panose="02000000000000000000" pitchFamily="2" charset="0"/>
                <a:ea typeface="Roboto" panose="02000000000000000000" pitchFamily="2" charset="0"/>
                <a:cs typeface="Roboto" panose="02000000000000000000" pitchFamily="2" charset="0"/>
              </a:rPr>
              <a:t>Đảm</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bảo</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tính</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đồng</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bộ</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dữ</a:t>
            </a:r>
            <a:r>
              <a:rPr lang="en-US" b="1" dirty="0">
                <a:latin typeface="Roboto" panose="02000000000000000000" pitchFamily="2" charset="0"/>
                <a:ea typeface="Roboto" panose="02000000000000000000" pitchFamily="2" charset="0"/>
                <a:cs typeface="Roboto" panose="02000000000000000000" pitchFamily="2" charset="0"/>
              </a:rPr>
              <a:t> </a:t>
            </a:r>
            <a:r>
              <a:rPr lang="en-US" b="1" dirty="0" err="1">
                <a:latin typeface="Roboto" panose="02000000000000000000" pitchFamily="2" charset="0"/>
                <a:ea typeface="Roboto" panose="02000000000000000000" pitchFamily="2" charset="0"/>
                <a:cs typeface="Roboto" panose="02000000000000000000" pitchFamily="2" charset="0"/>
              </a:rPr>
              <a:t>liệu</a:t>
            </a:r>
            <a:endParaRPr lang="en-US" b="1" dirty="0">
              <a:latin typeface="Roboto" panose="02000000000000000000" pitchFamily="2" charset="0"/>
              <a:ea typeface="Roboto" panose="02000000000000000000" pitchFamily="2" charset="0"/>
              <a:cs typeface="Roboto" panose="02000000000000000000" pitchFamily="2" charset="0"/>
            </a:endParaRPr>
          </a:p>
        </p:txBody>
      </p:sp>
      <p:sp>
        <p:nvSpPr>
          <p:cNvPr id="11" name="TextBox 10">
            <a:extLst>
              <a:ext uri="{FF2B5EF4-FFF2-40B4-BE49-F238E27FC236}">
                <a16:creationId xmlns:a16="http://schemas.microsoft.com/office/drawing/2014/main" id="{BF6D216E-76C1-3E30-0C6D-629340D37DE6}"/>
              </a:ext>
            </a:extLst>
          </p:cNvPr>
          <p:cNvSpPr txBox="1"/>
          <p:nvPr/>
        </p:nvSpPr>
        <p:spPr>
          <a:xfrm>
            <a:off x="6657975" y="5364540"/>
            <a:ext cx="4905375" cy="830997"/>
          </a:xfrm>
          <a:prstGeom prst="rect">
            <a:avLst/>
          </a:prstGeom>
          <a:noFill/>
        </p:spPr>
        <p:txBody>
          <a:bodyPr wrap="square" rtlCol="0">
            <a:spAutoFit/>
          </a:bodyPr>
          <a:lstStyle/>
          <a:p>
            <a:pPr algn="just"/>
            <a:r>
              <a:rPr lang="vi-VN" sz="1600" dirty="0">
                <a:latin typeface="Roboto" panose="02000000000000000000" pitchFamily="2" charset="0"/>
                <a:ea typeface="Roboto" panose="02000000000000000000" pitchFamily="2" charset="0"/>
                <a:cs typeface="Roboto" panose="02000000000000000000" pitchFamily="2" charset="0"/>
              </a:rPr>
              <a:t>Tối ưu cơ sở dữ liệu SQL Server nhằm đảm bảo tính đồng bộ và nhất quán giữa dữ liệu hiển thị và báo cáo thống kê.</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3" name="Text 1">
            <a:extLst>
              <a:ext uri="{FF2B5EF4-FFF2-40B4-BE49-F238E27FC236}">
                <a16:creationId xmlns:a16="http://schemas.microsoft.com/office/drawing/2014/main" id="{95089499-4170-6234-1084-402637764459}"/>
              </a:ext>
            </a:extLst>
          </p:cNvPr>
          <p:cNvSpPr/>
          <p:nvPr/>
        </p:nvSpPr>
        <p:spPr>
          <a:xfrm>
            <a:off x="937477" y="2894233"/>
            <a:ext cx="366394"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01</a:t>
            </a:r>
            <a:endParaRPr lang="en-US" sz="1750" dirty="0"/>
          </a:p>
        </p:txBody>
      </p:sp>
      <p:sp>
        <p:nvSpPr>
          <p:cNvPr id="14" name="Shape 2">
            <a:extLst>
              <a:ext uri="{FF2B5EF4-FFF2-40B4-BE49-F238E27FC236}">
                <a16:creationId xmlns:a16="http://schemas.microsoft.com/office/drawing/2014/main" id="{07C6BE6F-E727-BCD3-8C8F-88F0C98CBBDA}"/>
              </a:ext>
            </a:extLst>
          </p:cNvPr>
          <p:cNvSpPr/>
          <p:nvPr/>
        </p:nvSpPr>
        <p:spPr>
          <a:xfrm>
            <a:off x="937477" y="3249148"/>
            <a:ext cx="5143500" cy="45719"/>
          </a:xfrm>
          <a:prstGeom prst="rect">
            <a:avLst/>
          </a:prstGeom>
          <a:solidFill>
            <a:srgbClr val="FF0E0E"/>
          </a:solidFill>
          <a:ln/>
        </p:spPr>
        <p:txBody>
          <a:bodyPr/>
          <a:lstStyle/>
          <a:p>
            <a:pPr algn="just"/>
            <a:endParaRPr lang="vi-VN"/>
          </a:p>
        </p:txBody>
      </p:sp>
      <p:sp>
        <p:nvSpPr>
          <p:cNvPr id="15" name="Text 5">
            <a:extLst>
              <a:ext uri="{FF2B5EF4-FFF2-40B4-BE49-F238E27FC236}">
                <a16:creationId xmlns:a16="http://schemas.microsoft.com/office/drawing/2014/main" id="{891504CC-484A-B49B-D0B9-EB79FA07A421}"/>
              </a:ext>
            </a:extLst>
          </p:cNvPr>
          <p:cNvSpPr/>
          <p:nvPr/>
        </p:nvSpPr>
        <p:spPr>
          <a:xfrm>
            <a:off x="6507578" y="2943753"/>
            <a:ext cx="379429"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02</a:t>
            </a:r>
            <a:endParaRPr lang="en-US" sz="1750" dirty="0"/>
          </a:p>
        </p:txBody>
      </p:sp>
      <p:sp>
        <p:nvSpPr>
          <p:cNvPr id="16" name="Shape 6">
            <a:extLst>
              <a:ext uri="{FF2B5EF4-FFF2-40B4-BE49-F238E27FC236}">
                <a16:creationId xmlns:a16="http://schemas.microsoft.com/office/drawing/2014/main" id="{2BC80D3E-9211-643D-9F0E-55EF20DCE2F5}"/>
              </a:ext>
            </a:extLst>
          </p:cNvPr>
          <p:cNvSpPr/>
          <p:nvPr/>
        </p:nvSpPr>
        <p:spPr>
          <a:xfrm>
            <a:off x="6507579" y="3294867"/>
            <a:ext cx="5055772" cy="45952"/>
          </a:xfrm>
          <a:prstGeom prst="rect">
            <a:avLst/>
          </a:prstGeom>
          <a:solidFill>
            <a:srgbClr val="FF0E0E"/>
          </a:solidFill>
          <a:ln/>
        </p:spPr>
        <p:txBody>
          <a:bodyPr/>
          <a:lstStyle/>
          <a:p>
            <a:pPr algn="just"/>
            <a:endParaRPr lang="vi-VN"/>
          </a:p>
        </p:txBody>
      </p:sp>
      <p:sp>
        <p:nvSpPr>
          <p:cNvPr id="17" name="Text 9">
            <a:extLst>
              <a:ext uri="{FF2B5EF4-FFF2-40B4-BE49-F238E27FC236}">
                <a16:creationId xmlns:a16="http://schemas.microsoft.com/office/drawing/2014/main" id="{21A3E463-7B60-60E2-7764-351A31C59FDB}"/>
              </a:ext>
            </a:extLst>
          </p:cNvPr>
          <p:cNvSpPr/>
          <p:nvPr/>
        </p:nvSpPr>
        <p:spPr>
          <a:xfrm>
            <a:off x="937477" y="4562158"/>
            <a:ext cx="366394"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03</a:t>
            </a:r>
            <a:endParaRPr lang="en-US" sz="1750" dirty="0"/>
          </a:p>
        </p:txBody>
      </p:sp>
      <p:sp>
        <p:nvSpPr>
          <p:cNvPr id="18" name="Shape 10">
            <a:extLst>
              <a:ext uri="{FF2B5EF4-FFF2-40B4-BE49-F238E27FC236}">
                <a16:creationId xmlns:a16="http://schemas.microsoft.com/office/drawing/2014/main" id="{6E55E226-37D9-5BF3-80BF-A5AF6CB1D0DF}"/>
              </a:ext>
            </a:extLst>
          </p:cNvPr>
          <p:cNvSpPr/>
          <p:nvPr/>
        </p:nvSpPr>
        <p:spPr>
          <a:xfrm>
            <a:off x="937477" y="4922998"/>
            <a:ext cx="5143500" cy="45719"/>
          </a:xfrm>
          <a:prstGeom prst="rect">
            <a:avLst/>
          </a:prstGeom>
          <a:solidFill>
            <a:srgbClr val="FF0E0E"/>
          </a:solidFill>
          <a:ln/>
        </p:spPr>
        <p:txBody>
          <a:bodyPr/>
          <a:lstStyle/>
          <a:p>
            <a:pPr algn="just"/>
            <a:endParaRPr lang="vi-VN"/>
          </a:p>
        </p:txBody>
      </p:sp>
      <p:sp>
        <p:nvSpPr>
          <p:cNvPr id="19" name="Text 13">
            <a:extLst>
              <a:ext uri="{FF2B5EF4-FFF2-40B4-BE49-F238E27FC236}">
                <a16:creationId xmlns:a16="http://schemas.microsoft.com/office/drawing/2014/main" id="{85A8C28A-C9A7-2195-DE5A-904A5D77410C}"/>
              </a:ext>
            </a:extLst>
          </p:cNvPr>
          <p:cNvSpPr/>
          <p:nvPr/>
        </p:nvSpPr>
        <p:spPr>
          <a:xfrm>
            <a:off x="6507578" y="4607877"/>
            <a:ext cx="379429"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04</a:t>
            </a:r>
            <a:endParaRPr lang="en-US" sz="1750" dirty="0"/>
          </a:p>
        </p:txBody>
      </p:sp>
      <p:sp>
        <p:nvSpPr>
          <p:cNvPr id="20" name="Shape 14">
            <a:extLst>
              <a:ext uri="{FF2B5EF4-FFF2-40B4-BE49-F238E27FC236}">
                <a16:creationId xmlns:a16="http://schemas.microsoft.com/office/drawing/2014/main" id="{1E0B605E-9433-5570-47EC-29E6DC258D64}"/>
              </a:ext>
            </a:extLst>
          </p:cNvPr>
          <p:cNvSpPr/>
          <p:nvPr/>
        </p:nvSpPr>
        <p:spPr>
          <a:xfrm>
            <a:off x="6507579" y="4949261"/>
            <a:ext cx="5055772" cy="45719"/>
          </a:xfrm>
          <a:prstGeom prst="rect">
            <a:avLst/>
          </a:prstGeom>
          <a:solidFill>
            <a:srgbClr val="FF0E0E"/>
          </a:solidFill>
          <a:ln/>
        </p:spPr>
        <p:txBody>
          <a:bodyPr/>
          <a:lstStyle/>
          <a:p>
            <a:pPr algn="just"/>
            <a:endParaRPr lang="vi-VN"/>
          </a:p>
        </p:txBody>
      </p:sp>
    </p:spTree>
    <p:extLst>
      <p:ext uri="{BB962C8B-B14F-4D97-AF65-F5344CB8AC3E}">
        <p14:creationId xmlns:p14="http://schemas.microsoft.com/office/powerpoint/2010/main" val="996712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BA3D-E256-DD2A-55FE-EB02415A76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3673E2-432A-FC48-FEE3-E02806C9EF6C}"/>
              </a:ext>
            </a:extLst>
          </p:cNvPr>
          <p:cNvSpPr txBox="1"/>
          <p:nvPr/>
        </p:nvSpPr>
        <p:spPr>
          <a:xfrm>
            <a:off x="704850" y="414408"/>
            <a:ext cx="6096000" cy="960328"/>
          </a:xfrm>
          <a:prstGeom prst="rect">
            <a:avLst/>
          </a:prstGeom>
          <a:noFill/>
        </p:spPr>
        <p:txBody>
          <a:bodyPr wrap="square">
            <a:spAutoFit/>
          </a:bodyPr>
          <a:lstStyle/>
          <a:p>
            <a:pPr marL="0" lvl="0" indent="0" algn="just">
              <a:lnSpc>
                <a:spcPts val="7920"/>
              </a:lnSpc>
            </a:pPr>
            <a:r>
              <a:rPr lang="vi-VN" sz="3600" b="1" dirty="0">
                <a:latin typeface="Times New Roman" panose="02020603050405020304" pitchFamily="18" charset="0"/>
                <a:ea typeface="Karnchang SemiCondensed Semi-Bold"/>
                <a:cs typeface="Times New Roman" panose="02020603050405020304" pitchFamily="18" charset="0"/>
                <a:sym typeface="Karnchang SemiCondensed Semi-Bold"/>
              </a:rPr>
              <a:t>3. KẾT QUẢ CẦN ĐẠT</a:t>
            </a:r>
          </a:p>
        </p:txBody>
      </p:sp>
      <p:sp>
        <p:nvSpPr>
          <p:cNvPr id="3" name="Text 1">
            <a:extLst>
              <a:ext uri="{FF2B5EF4-FFF2-40B4-BE49-F238E27FC236}">
                <a16:creationId xmlns:a16="http://schemas.microsoft.com/office/drawing/2014/main" id="{7BE8315F-6B5F-D436-7AC8-796856AA6F28}"/>
              </a:ext>
            </a:extLst>
          </p:cNvPr>
          <p:cNvSpPr/>
          <p:nvPr/>
        </p:nvSpPr>
        <p:spPr>
          <a:xfrm>
            <a:off x="704850" y="1861053"/>
            <a:ext cx="366394"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01</a:t>
            </a:r>
            <a:endParaRPr lang="en-US" sz="1750" dirty="0"/>
          </a:p>
        </p:txBody>
      </p:sp>
      <p:sp>
        <p:nvSpPr>
          <p:cNvPr id="4" name="Shape 2">
            <a:extLst>
              <a:ext uri="{FF2B5EF4-FFF2-40B4-BE49-F238E27FC236}">
                <a16:creationId xmlns:a16="http://schemas.microsoft.com/office/drawing/2014/main" id="{640612CC-84BD-8BC8-1E76-8CF16E0D0F66}"/>
              </a:ext>
            </a:extLst>
          </p:cNvPr>
          <p:cNvSpPr/>
          <p:nvPr/>
        </p:nvSpPr>
        <p:spPr>
          <a:xfrm>
            <a:off x="704850" y="2212167"/>
            <a:ext cx="5143500" cy="45719"/>
          </a:xfrm>
          <a:prstGeom prst="rect">
            <a:avLst/>
          </a:prstGeom>
          <a:solidFill>
            <a:srgbClr val="FF0E0E"/>
          </a:solidFill>
          <a:ln/>
        </p:spPr>
        <p:txBody>
          <a:bodyPr/>
          <a:lstStyle/>
          <a:p>
            <a:pPr algn="just"/>
            <a:endParaRPr lang="vi-VN"/>
          </a:p>
        </p:txBody>
      </p:sp>
      <p:sp>
        <p:nvSpPr>
          <p:cNvPr id="5" name="Text 3">
            <a:extLst>
              <a:ext uri="{FF2B5EF4-FFF2-40B4-BE49-F238E27FC236}">
                <a16:creationId xmlns:a16="http://schemas.microsoft.com/office/drawing/2014/main" id="{C48B1437-F017-C22A-3A00-E6C74FE28E91}"/>
              </a:ext>
            </a:extLst>
          </p:cNvPr>
          <p:cNvSpPr/>
          <p:nvPr/>
        </p:nvSpPr>
        <p:spPr>
          <a:xfrm>
            <a:off x="704850" y="2385404"/>
            <a:ext cx="4362450" cy="344384"/>
          </a:xfrm>
          <a:prstGeom prst="rect">
            <a:avLst/>
          </a:prstGeom>
          <a:noFill/>
          <a:ln/>
        </p:spPr>
        <p:txBody>
          <a:bodyPr wrap="none" lIns="0" tIns="0" rIns="0" bIns="0" rtlCol="0" anchor="t"/>
          <a:lstStyle/>
          <a:p>
            <a:pPr marL="0" indent="0" algn="just">
              <a:lnSpc>
                <a:spcPts val="2500"/>
              </a:lnSpc>
              <a:buNone/>
            </a:pPr>
            <a:r>
              <a:rPr lang="en-US" sz="2000" b="1" dirty="0" err="1">
                <a:latin typeface="Roboto Bold" pitchFamily="34" charset="0"/>
                <a:ea typeface="Roboto Bold" pitchFamily="34" charset="-122"/>
                <a:cs typeface="Roboto Bold" pitchFamily="34" charset="-120"/>
              </a:rPr>
              <a:t>Giám sát đồng thời nhiều camera</a:t>
            </a:r>
            <a:endParaRPr lang="en-US" sz="2000" dirty="0"/>
          </a:p>
        </p:txBody>
      </p:sp>
      <p:sp>
        <p:nvSpPr>
          <p:cNvPr id="6" name="Text 4">
            <a:extLst>
              <a:ext uri="{FF2B5EF4-FFF2-40B4-BE49-F238E27FC236}">
                <a16:creationId xmlns:a16="http://schemas.microsoft.com/office/drawing/2014/main" id="{95DAF1B0-4FB2-36E4-A357-320247B4E15F}"/>
              </a:ext>
            </a:extLst>
          </p:cNvPr>
          <p:cNvSpPr/>
          <p:nvPr/>
        </p:nvSpPr>
        <p:spPr>
          <a:xfrm>
            <a:off x="704850" y="2840461"/>
            <a:ext cx="5143500" cy="941011"/>
          </a:xfrm>
          <a:prstGeom prst="rect">
            <a:avLst/>
          </a:prstGeom>
          <a:noFill/>
          <a:ln/>
        </p:spPr>
        <p:txBody>
          <a:bodyPr wrap="square" lIns="0" tIns="0" rIns="0" bIns="0" rtlCol="0" anchor="t"/>
          <a:lstStyle/>
          <a:p>
            <a:pPr marL="0" indent="0" algn="just">
              <a:lnSpc>
                <a:spcPts val="2250"/>
              </a:lnSpc>
              <a:buNone/>
            </a:pPr>
            <a:r>
              <a:rPr lang="en-US" sz="1750" dirty="0" err="1">
                <a:latin typeface="Roboto" pitchFamily="34" charset="0"/>
                <a:ea typeface="Roboto" pitchFamily="34" charset="-122"/>
                <a:cs typeface="Roboto" pitchFamily="34" charset="-120"/>
              </a:rPr>
              <a:t>Xây dựng luồng xử lý theo từng camera; đánh giá FPS, thời gian xử lý và mức sử dụng tài nguyên bằng benchmark.</a:t>
            </a:r>
            <a:endParaRPr lang="en-US" sz="1750" dirty="0"/>
          </a:p>
        </p:txBody>
      </p:sp>
      <p:sp>
        <p:nvSpPr>
          <p:cNvPr id="7" name="Text 5">
            <a:extLst>
              <a:ext uri="{FF2B5EF4-FFF2-40B4-BE49-F238E27FC236}">
                <a16:creationId xmlns:a16="http://schemas.microsoft.com/office/drawing/2014/main" id="{E72B5E46-4D0A-52CB-5CF6-BAB987EEE758}"/>
              </a:ext>
            </a:extLst>
          </p:cNvPr>
          <p:cNvSpPr/>
          <p:nvPr/>
        </p:nvSpPr>
        <p:spPr>
          <a:xfrm>
            <a:off x="6274951" y="1906772"/>
            <a:ext cx="379429"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02</a:t>
            </a:r>
            <a:endParaRPr lang="en-US" sz="1750" dirty="0"/>
          </a:p>
        </p:txBody>
      </p:sp>
      <p:sp>
        <p:nvSpPr>
          <p:cNvPr id="8" name="Shape 6">
            <a:extLst>
              <a:ext uri="{FF2B5EF4-FFF2-40B4-BE49-F238E27FC236}">
                <a16:creationId xmlns:a16="http://schemas.microsoft.com/office/drawing/2014/main" id="{25A02148-5430-51EC-766B-031DEEDD0CE1}"/>
              </a:ext>
            </a:extLst>
          </p:cNvPr>
          <p:cNvSpPr/>
          <p:nvPr/>
        </p:nvSpPr>
        <p:spPr>
          <a:xfrm>
            <a:off x="6274951" y="2257886"/>
            <a:ext cx="5326499" cy="45719"/>
          </a:xfrm>
          <a:prstGeom prst="rect">
            <a:avLst/>
          </a:prstGeom>
          <a:solidFill>
            <a:srgbClr val="FF0E0E"/>
          </a:solidFill>
          <a:ln/>
        </p:spPr>
        <p:txBody>
          <a:bodyPr/>
          <a:lstStyle/>
          <a:p>
            <a:pPr algn="just"/>
            <a:endParaRPr lang="vi-VN"/>
          </a:p>
        </p:txBody>
      </p:sp>
      <p:sp>
        <p:nvSpPr>
          <p:cNvPr id="10" name="Text 7">
            <a:extLst>
              <a:ext uri="{FF2B5EF4-FFF2-40B4-BE49-F238E27FC236}">
                <a16:creationId xmlns:a16="http://schemas.microsoft.com/office/drawing/2014/main" id="{27D37DC2-C97A-52C2-64D7-B79F9CC47DDC}"/>
              </a:ext>
            </a:extLst>
          </p:cNvPr>
          <p:cNvSpPr/>
          <p:nvPr/>
        </p:nvSpPr>
        <p:spPr>
          <a:xfrm>
            <a:off x="6274951" y="2431123"/>
            <a:ext cx="2165526" cy="344384"/>
          </a:xfrm>
          <a:prstGeom prst="rect">
            <a:avLst/>
          </a:prstGeom>
          <a:noFill/>
          <a:ln/>
        </p:spPr>
        <p:txBody>
          <a:bodyPr wrap="none" lIns="0" tIns="0" rIns="0" bIns="0" rtlCol="0" anchor="t"/>
          <a:lstStyle/>
          <a:p>
            <a:pPr marL="0" indent="0" algn="just">
              <a:lnSpc>
                <a:spcPts val="2500"/>
              </a:lnSpc>
              <a:buNone/>
            </a:pPr>
            <a:r>
              <a:rPr lang="vi-VN" sz="2000" b="1" dirty="0">
                <a:latin typeface="Roboto Bold" pitchFamily="34" charset="0"/>
                <a:ea typeface="Roboto Bold" pitchFamily="34" charset="-122"/>
                <a:cs typeface="Roboto Bold" pitchFamily="34" charset="-120"/>
              </a:rPr>
              <a:t>Nhận diện và đối sánh danh tính</a:t>
            </a:r>
            <a:endParaRPr lang="en-US" sz="2000" dirty="0"/>
          </a:p>
        </p:txBody>
      </p:sp>
      <p:sp>
        <p:nvSpPr>
          <p:cNvPr id="11" name="Text 8">
            <a:extLst>
              <a:ext uri="{FF2B5EF4-FFF2-40B4-BE49-F238E27FC236}">
                <a16:creationId xmlns:a16="http://schemas.microsoft.com/office/drawing/2014/main" id="{770A3476-2EE2-FF27-4F2F-07F34D29B162}"/>
              </a:ext>
            </a:extLst>
          </p:cNvPr>
          <p:cNvSpPr/>
          <p:nvPr/>
        </p:nvSpPr>
        <p:spPr>
          <a:xfrm>
            <a:off x="6274951" y="2886180"/>
            <a:ext cx="5326499" cy="941011"/>
          </a:xfrm>
          <a:prstGeom prst="rect">
            <a:avLst/>
          </a:prstGeom>
          <a:noFill/>
          <a:ln/>
        </p:spPr>
        <p:txBody>
          <a:bodyPr wrap="square" lIns="0" tIns="0" rIns="0" bIns="0" rtlCol="0" anchor="t"/>
          <a:lstStyle/>
          <a:p>
            <a:pPr marL="0" indent="0" algn="just">
              <a:lnSpc>
                <a:spcPts val="2250"/>
              </a:lnSpc>
              <a:buNone/>
            </a:pPr>
            <a:r>
              <a:rPr lang="vi-VN" sz="1750" dirty="0">
                <a:latin typeface="Roboto" pitchFamily="34" charset="0"/>
                <a:ea typeface="Roboto" pitchFamily="34" charset="-122"/>
                <a:cs typeface="Roboto" pitchFamily="34" charset="-120"/>
              </a:rPr>
              <a:t>Nhận diện người đã đăng ký bằng InsightFace. Unknown là chưa xác định danh tính; cảnh báo phụ thuộc điều kiện xác nhận.</a:t>
            </a:r>
            <a:endParaRPr lang="en-US" sz="1750" dirty="0"/>
          </a:p>
        </p:txBody>
      </p:sp>
      <p:sp>
        <p:nvSpPr>
          <p:cNvPr id="13" name="Text 9">
            <a:extLst>
              <a:ext uri="{FF2B5EF4-FFF2-40B4-BE49-F238E27FC236}">
                <a16:creationId xmlns:a16="http://schemas.microsoft.com/office/drawing/2014/main" id="{CFFB2682-0133-EA24-DCED-F1DB9C71C64D}"/>
              </a:ext>
            </a:extLst>
          </p:cNvPr>
          <p:cNvSpPr/>
          <p:nvPr/>
        </p:nvSpPr>
        <p:spPr>
          <a:xfrm>
            <a:off x="704850" y="4108834"/>
            <a:ext cx="366394"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03</a:t>
            </a:r>
            <a:endParaRPr lang="en-US" sz="1750" dirty="0"/>
          </a:p>
        </p:txBody>
      </p:sp>
      <p:sp>
        <p:nvSpPr>
          <p:cNvPr id="14" name="Shape 10">
            <a:extLst>
              <a:ext uri="{FF2B5EF4-FFF2-40B4-BE49-F238E27FC236}">
                <a16:creationId xmlns:a16="http://schemas.microsoft.com/office/drawing/2014/main" id="{8E79ED76-98CB-1E21-19D3-4C5ED03C3E1F}"/>
              </a:ext>
            </a:extLst>
          </p:cNvPr>
          <p:cNvSpPr/>
          <p:nvPr/>
        </p:nvSpPr>
        <p:spPr>
          <a:xfrm>
            <a:off x="704850" y="4459948"/>
            <a:ext cx="5143500" cy="45719"/>
          </a:xfrm>
          <a:prstGeom prst="rect">
            <a:avLst/>
          </a:prstGeom>
          <a:solidFill>
            <a:srgbClr val="FF0E0E"/>
          </a:solidFill>
          <a:ln/>
        </p:spPr>
        <p:txBody>
          <a:bodyPr/>
          <a:lstStyle/>
          <a:p>
            <a:pPr algn="just"/>
            <a:endParaRPr lang="vi-VN"/>
          </a:p>
        </p:txBody>
      </p:sp>
      <p:sp>
        <p:nvSpPr>
          <p:cNvPr id="15" name="Text 11">
            <a:extLst>
              <a:ext uri="{FF2B5EF4-FFF2-40B4-BE49-F238E27FC236}">
                <a16:creationId xmlns:a16="http://schemas.microsoft.com/office/drawing/2014/main" id="{83712272-0241-6D41-8530-0E8B68F315F3}"/>
              </a:ext>
            </a:extLst>
          </p:cNvPr>
          <p:cNvSpPr/>
          <p:nvPr/>
        </p:nvSpPr>
        <p:spPr>
          <a:xfrm>
            <a:off x="704850" y="4633185"/>
            <a:ext cx="2091126" cy="344384"/>
          </a:xfrm>
          <a:prstGeom prst="rect">
            <a:avLst/>
          </a:prstGeom>
          <a:noFill/>
          <a:ln/>
        </p:spPr>
        <p:txBody>
          <a:bodyPr wrap="none" lIns="0" tIns="0" rIns="0" bIns="0" rtlCol="0" anchor="t"/>
          <a:lstStyle/>
          <a:p>
            <a:pPr marL="0" indent="0" algn="just">
              <a:lnSpc>
                <a:spcPts val="2500"/>
              </a:lnSpc>
              <a:buNone/>
            </a:pPr>
            <a:r>
              <a:rPr lang="en-US" sz="2000" b="1" dirty="0" err="1">
                <a:latin typeface="Roboto Bold" pitchFamily="34" charset="0"/>
                <a:ea typeface="Roboto Bold" pitchFamily="34" charset="-122"/>
                <a:cs typeface="Roboto Bold" pitchFamily="34" charset="-120"/>
              </a:rPr>
              <a:t>Phát hiện sự kiện và gửi cảnh báo</a:t>
            </a:r>
            <a:endParaRPr lang="en-US" sz="2000" dirty="0"/>
          </a:p>
        </p:txBody>
      </p:sp>
      <p:sp>
        <p:nvSpPr>
          <p:cNvPr id="16" name="Text 12">
            <a:extLst>
              <a:ext uri="{FF2B5EF4-FFF2-40B4-BE49-F238E27FC236}">
                <a16:creationId xmlns:a16="http://schemas.microsoft.com/office/drawing/2014/main" id="{BC6280BD-9795-0D43-A546-CAACBA4754F5}"/>
              </a:ext>
            </a:extLst>
          </p:cNvPr>
          <p:cNvSpPr/>
          <p:nvPr/>
        </p:nvSpPr>
        <p:spPr>
          <a:xfrm>
            <a:off x="704850" y="5088242"/>
            <a:ext cx="5143500" cy="627340"/>
          </a:xfrm>
          <a:prstGeom prst="rect">
            <a:avLst/>
          </a:prstGeom>
          <a:noFill/>
          <a:ln/>
        </p:spPr>
        <p:txBody>
          <a:bodyPr wrap="square" lIns="0" tIns="0" rIns="0" bIns="0" rtlCol="0" anchor="t"/>
          <a:lstStyle/>
          <a:p>
            <a:pPr marL="0" indent="0" algn="just">
              <a:lnSpc>
                <a:spcPts val="2250"/>
              </a:lnSpc>
              <a:buNone/>
            </a:pPr>
            <a:r>
              <a:rPr lang="vi-VN" sz="1750" dirty="0">
                <a:latin typeface="Roboto" pitchFamily="34" charset="0"/>
                <a:ea typeface="Roboto" pitchFamily="34" charset="-122"/>
                <a:cs typeface="Roboto" pitchFamily="34" charset="-120"/>
              </a:rPr>
              <a:t>Phát hiện hành vi, vũ khí và đám đông; xác nhận sự kiện, hạn chế lưu trùng và lưu ảnh minh chứng có box.</a:t>
            </a:r>
            <a:endParaRPr lang="en-US" sz="1750" dirty="0"/>
          </a:p>
        </p:txBody>
      </p:sp>
      <p:sp>
        <p:nvSpPr>
          <p:cNvPr id="17" name="Text 13">
            <a:extLst>
              <a:ext uri="{FF2B5EF4-FFF2-40B4-BE49-F238E27FC236}">
                <a16:creationId xmlns:a16="http://schemas.microsoft.com/office/drawing/2014/main" id="{EFE63AA4-B612-0F0C-BBB8-90CAB5697406}"/>
              </a:ext>
            </a:extLst>
          </p:cNvPr>
          <p:cNvSpPr/>
          <p:nvPr/>
        </p:nvSpPr>
        <p:spPr>
          <a:xfrm>
            <a:off x="6274951" y="4154553"/>
            <a:ext cx="379429" cy="301640"/>
          </a:xfrm>
          <a:prstGeom prst="rect">
            <a:avLst/>
          </a:prstGeom>
          <a:noFill/>
          <a:ln/>
        </p:spPr>
        <p:txBody>
          <a:bodyPr wrap="none" lIns="0" tIns="0" rIns="0" bIns="0" rtlCol="0" anchor="t"/>
          <a:lstStyle/>
          <a:p>
            <a:pPr marL="0" indent="0" algn="just">
              <a:lnSpc>
                <a:spcPts val="2250"/>
              </a:lnSpc>
              <a:buNone/>
            </a:pPr>
            <a:r>
              <a:rPr lang="en-US" sz="1750" dirty="0">
                <a:latin typeface="Roboto Light" pitchFamily="34" charset="0"/>
                <a:ea typeface="Roboto Light" pitchFamily="34" charset="-122"/>
                <a:cs typeface="Roboto Light" pitchFamily="34" charset="-120"/>
              </a:rPr>
              <a:t>04</a:t>
            </a:r>
            <a:endParaRPr lang="en-US" sz="1750" dirty="0"/>
          </a:p>
        </p:txBody>
      </p:sp>
      <p:sp>
        <p:nvSpPr>
          <p:cNvPr id="18" name="Shape 14">
            <a:extLst>
              <a:ext uri="{FF2B5EF4-FFF2-40B4-BE49-F238E27FC236}">
                <a16:creationId xmlns:a16="http://schemas.microsoft.com/office/drawing/2014/main" id="{834B32AB-DDE5-6603-3A70-07D732122E01}"/>
              </a:ext>
            </a:extLst>
          </p:cNvPr>
          <p:cNvSpPr/>
          <p:nvPr/>
        </p:nvSpPr>
        <p:spPr>
          <a:xfrm>
            <a:off x="6274951" y="4505667"/>
            <a:ext cx="5326499" cy="45719"/>
          </a:xfrm>
          <a:prstGeom prst="rect">
            <a:avLst/>
          </a:prstGeom>
          <a:solidFill>
            <a:srgbClr val="FF0E0E"/>
          </a:solidFill>
          <a:ln/>
        </p:spPr>
        <p:txBody>
          <a:bodyPr/>
          <a:lstStyle/>
          <a:p>
            <a:pPr algn="just"/>
            <a:endParaRPr lang="vi-VN"/>
          </a:p>
        </p:txBody>
      </p:sp>
      <p:sp>
        <p:nvSpPr>
          <p:cNvPr id="19" name="Text 15">
            <a:extLst>
              <a:ext uri="{FF2B5EF4-FFF2-40B4-BE49-F238E27FC236}">
                <a16:creationId xmlns:a16="http://schemas.microsoft.com/office/drawing/2014/main" id="{651AE4B1-776D-26FA-EEC0-9B3789705F3B}"/>
              </a:ext>
            </a:extLst>
          </p:cNvPr>
          <p:cNvSpPr/>
          <p:nvPr/>
        </p:nvSpPr>
        <p:spPr>
          <a:xfrm>
            <a:off x="6274951" y="4678904"/>
            <a:ext cx="2165526" cy="344384"/>
          </a:xfrm>
          <a:prstGeom prst="rect">
            <a:avLst/>
          </a:prstGeom>
          <a:noFill/>
          <a:ln/>
        </p:spPr>
        <p:txBody>
          <a:bodyPr wrap="none" lIns="0" tIns="0" rIns="0" bIns="0" rtlCol="0" anchor="t"/>
          <a:lstStyle/>
          <a:p>
            <a:pPr marL="0" indent="0" algn="just">
              <a:lnSpc>
                <a:spcPts val="2500"/>
              </a:lnSpc>
              <a:buNone/>
            </a:pPr>
            <a:r>
              <a:rPr lang="vi-VN" sz="2000" b="1" dirty="0">
                <a:latin typeface="Roboto Bold" pitchFamily="34" charset="0"/>
                <a:ea typeface="Roboto Bold" pitchFamily="34" charset="-122"/>
                <a:cs typeface="Roboto Bold" pitchFamily="34" charset="-120"/>
              </a:rPr>
              <a:t>Hỗ trợ nghiệp vụ bằng Trợ lý ảo:</a:t>
            </a:r>
            <a:endParaRPr lang="en-US" sz="2000" dirty="0"/>
          </a:p>
        </p:txBody>
      </p:sp>
      <p:sp>
        <p:nvSpPr>
          <p:cNvPr id="20" name="Text 16">
            <a:extLst>
              <a:ext uri="{FF2B5EF4-FFF2-40B4-BE49-F238E27FC236}">
                <a16:creationId xmlns:a16="http://schemas.microsoft.com/office/drawing/2014/main" id="{C3695FAA-D320-8BF7-6779-D7070E56CD6A}"/>
              </a:ext>
            </a:extLst>
          </p:cNvPr>
          <p:cNvSpPr/>
          <p:nvPr/>
        </p:nvSpPr>
        <p:spPr>
          <a:xfrm>
            <a:off x="6274951" y="5133961"/>
            <a:ext cx="5326499" cy="627340"/>
          </a:xfrm>
          <a:prstGeom prst="rect">
            <a:avLst/>
          </a:prstGeom>
          <a:noFill/>
          <a:ln/>
        </p:spPr>
        <p:txBody>
          <a:bodyPr wrap="square" lIns="0" tIns="0" rIns="0" bIns="0" rtlCol="0" anchor="t"/>
          <a:lstStyle/>
          <a:p>
            <a:pPr marL="0" indent="0" algn="just">
              <a:lnSpc>
                <a:spcPts val="2250"/>
              </a:lnSpc>
              <a:buNone/>
            </a:pPr>
            <a:r>
              <a:rPr lang="vi-VN" sz="1750" dirty="0">
                <a:latin typeface="Roboto" pitchFamily="34" charset="0"/>
                <a:ea typeface="Roboto" pitchFamily="34" charset="-122"/>
                <a:cs typeface="Roboto" pitchFamily="34" charset="-120"/>
              </a:rPr>
              <a:t>Tích hợp mô hình Google Gemini làm trợ lý an ninh ASA để tư vấn nhanh quy trình nghiệp vụ (SOP) và tự động biên soạn báo cáo giao ca một cách nhanh chóng, chuyên nghiệp.</a:t>
            </a:r>
            <a:endParaRPr lang="en-US" sz="1750" dirty="0"/>
          </a:p>
        </p:txBody>
      </p:sp>
    </p:spTree>
    <p:extLst>
      <p:ext uri="{BB962C8B-B14F-4D97-AF65-F5344CB8AC3E}">
        <p14:creationId xmlns:p14="http://schemas.microsoft.com/office/powerpoint/2010/main" val="15742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C918B-056E-EFA0-A2F9-B6904C848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69B8B-1ED7-73DE-78F1-E19F8EE3D1C9}"/>
              </a:ext>
            </a:extLst>
          </p:cNvPr>
          <p:cNvSpPr>
            <a:spLocks noGrp="1"/>
          </p:cNvSpPr>
          <p:nvPr>
            <p:ph type="ctrTitle"/>
          </p:nvPr>
        </p:nvSpPr>
        <p:spPr>
          <a:xfrm>
            <a:off x="2900506" y="2077330"/>
            <a:ext cx="7551472" cy="2311135"/>
          </a:xfrm>
        </p:spPr>
        <p:txBody>
          <a:bodyPr anchor="b"/>
          <a:lstStyle/>
          <a:p>
            <a:pPr>
              <a:lnSpc>
                <a:spcPct val="100000"/>
              </a:lnSpc>
            </a:pPr>
            <a:r>
              <a:rPr lang="vi-VN" sz="6600" b="1" dirty="0">
                <a:latin typeface="Roboto" panose="02000000000000000000" pitchFamily="2" charset="0"/>
                <a:ea typeface="Roboto" panose="02000000000000000000" pitchFamily="2" charset="0"/>
                <a:cs typeface="Roboto" panose="02000000000000000000" pitchFamily="2" charset="0"/>
              </a:rPr>
              <a:t>CƠ SỞ LÝ THUYẾT</a:t>
            </a:r>
          </a:p>
        </p:txBody>
      </p:sp>
      <p:sp>
        <p:nvSpPr>
          <p:cNvPr id="3" name="Freeform 12">
            <a:extLst>
              <a:ext uri="{FF2B5EF4-FFF2-40B4-BE49-F238E27FC236}">
                <a16:creationId xmlns:a16="http://schemas.microsoft.com/office/drawing/2014/main" id="{FC9991F0-0645-0809-3CA2-036D13772466}"/>
              </a:ext>
            </a:extLst>
          </p:cNvPr>
          <p:cNvSpPr/>
          <p:nvPr/>
        </p:nvSpPr>
        <p:spPr>
          <a:xfrm>
            <a:off x="9376229" y="-169666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12">
            <a:extLst>
              <a:ext uri="{FF2B5EF4-FFF2-40B4-BE49-F238E27FC236}">
                <a16:creationId xmlns:a16="http://schemas.microsoft.com/office/drawing/2014/main" id="{F30ACB40-F0F5-8F3E-E69F-97BC504AD594}"/>
              </a:ext>
            </a:extLst>
          </p:cNvPr>
          <p:cNvSpPr/>
          <p:nvPr/>
        </p:nvSpPr>
        <p:spPr>
          <a:xfrm rot="13287298">
            <a:off x="-4391831" y="415290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extLst>
      <p:ext uri="{BB962C8B-B14F-4D97-AF65-F5344CB8AC3E}">
        <p14:creationId xmlns:p14="http://schemas.microsoft.com/office/powerpoint/2010/main" val="1589047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87658-CA6C-2311-3666-91ACD3D2889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7EA6CAF-D36D-76AD-2FFF-D2EA6B387113}"/>
              </a:ext>
            </a:extLst>
          </p:cNvPr>
          <p:cNvSpPr txBox="1">
            <a:spLocks/>
          </p:cNvSpPr>
          <p:nvPr/>
        </p:nvSpPr>
        <p:spPr>
          <a:xfrm>
            <a:off x="612647" y="945334"/>
            <a:ext cx="10989417" cy="1133856"/>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a:lstStyle>
          <a:p>
            <a:r>
              <a:rPr lang="vi-VN" sz="3600" b="1" dirty="0">
                <a:latin typeface="Times New Roman" panose="02020603050405020304" pitchFamily="18" charset="0"/>
                <a:cs typeface="Times New Roman" panose="02020603050405020304" pitchFamily="18" charset="0"/>
              </a:rPr>
              <a:t>1.</a:t>
            </a:r>
            <a:r>
              <a:rPr lang="en-US" sz="3600" b="1" dirty="0">
                <a:latin typeface="Times New Roman" panose="02020603050405020304" pitchFamily="18" charset="0"/>
                <a:cs typeface="Times New Roman" panose="02020603050405020304" pitchFamily="18" charset="0"/>
              </a:rPr>
              <a:t> CÔNG NGHỆ VÀ THUẬT TOÁN SỬ DỤNG</a:t>
            </a:r>
          </a:p>
        </p:txBody>
      </p:sp>
      <p:sp>
        <p:nvSpPr>
          <p:cNvPr id="2" name="Shape 1">
            <a:extLst>
              <a:ext uri="{FF2B5EF4-FFF2-40B4-BE49-F238E27FC236}">
                <a16:creationId xmlns:a16="http://schemas.microsoft.com/office/drawing/2014/main" id="{9CA62F0B-C9FE-DC21-55DD-A830AACA0485}"/>
              </a:ext>
            </a:extLst>
          </p:cNvPr>
          <p:cNvSpPr/>
          <p:nvPr/>
        </p:nvSpPr>
        <p:spPr>
          <a:xfrm>
            <a:off x="612649" y="2057401"/>
            <a:ext cx="10966704" cy="1204090"/>
          </a:xfrm>
          <a:prstGeom prst="roundRect">
            <a:avLst>
              <a:gd name="adj" fmla="val 6420"/>
            </a:avLst>
          </a:prstGeom>
          <a:solidFill>
            <a:srgbClr val="FBECE5"/>
          </a:solidFill>
          <a:ln w="22860">
            <a:solidFill>
              <a:srgbClr val="E5B2B2"/>
            </a:solidFill>
            <a:prstDash val="solid"/>
          </a:ln>
        </p:spPr>
        <p:txBody>
          <a:bodyPr/>
          <a:lstStyle/>
          <a:p>
            <a:endParaRPr lang="vi-VN"/>
          </a:p>
        </p:txBody>
      </p:sp>
      <p:sp>
        <p:nvSpPr>
          <p:cNvPr id="3" name="Shape 2">
            <a:extLst>
              <a:ext uri="{FF2B5EF4-FFF2-40B4-BE49-F238E27FC236}">
                <a16:creationId xmlns:a16="http://schemas.microsoft.com/office/drawing/2014/main" id="{BF015EA3-7DD2-048F-24EF-F3F3D473DA2D}"/>
              </a:ext>
            </a:extLst>
          </p:cNvPr>
          <p:cNvSpPr/>
          <p:nvPr/>
        </p:nvSpPr>
        <p:spPr>
          <a:xfrm>
            <a:off x="635508" y="2081377"/>
            <a:ext cx="614111" cy="1157253"/>
          </a:xfrm>
          <a:prstGeom prst="roundRect">
            <a:avLst>
              <a:gd name="adj" fmla="val 6683"/>
            </a:avLst>
          </a:prstGeom>
          <a:solidFill>
            <a:srgbClr val="FFCCCC"/>
          </a:solidFill>
          <a:ln/>
        </p:spPr>
        <p:txBody>
          <a:bodyPr/>
          <a:lstStyle/>
          <a:p>
            <a:endParaRPr lang="vi-VN"/>
          </a:p>
        </p:txBody>
      </p:sp>
      <p:sp>
        <p:nvSpPr>
          <p:cNvPr id="4" name="Text 3">
            <a:extLst>
              <a:ext uri="{FF2B5EF4-FFF2-40B4-BE49-F238E27FC236}">
                <a16:creationId xmlns:a16="http://schemas.microsoft.com/office/drawing/2014/main" id="{5A31520D-B7C4-3F72-6815-F74F37466C0E}"/>
              </a:ext>
            </a:extLst>
          </p:cNvPr>
          <p:cNvSpPr/>
          <p:nvPr/>
        </p:nvSpPr>
        <p:spPr>
          <a:xfrm>
            <a:off x="856249" y="2497099"/>
            <a:ext cx="230240" cy="345054"/>
          </a:xfrm>
          <a:prstGeom prst="rect">
            <a:avLst/>
          </a:prstGeom>
          <a:noFill/>
          <a:ln/>
        </p:spPr>
        <p:txBody>
          <a:bodyPr wrap="none" lIns="0" tIns="0" rIns="0" bIns="0" rtlCol="0" anchor="t"/>
          <a:lstStyle/>
          <a:p>
            <a:pPr marL="0" indent="0" algn="l">
              <a:lnSpc>
                <a:spcPts val="2100"/>
              </a:lnSpc>
              <a:buNone/>
            </a:pPr>
            <a:r>
              <a:rPr lang="en-US" sz="2100" b="1" dirty="0">
                <a:latin typeface="Roboto Bold" pitchFamily="34" charset="0"/>
                <a:ea typeface="Roboto Bold" pitchFamily="34" charset="-122"/>
                <a:cs typeface="Roboto Bold" pitchFamily="34" charset="-120"/>
              </a:rPr>
              <a:t>1</a:t>
            </a:r>
            <a:endParaRPr lang="en-US" sz="2100" dirty="0"/>
          </a:p>
        </p:txBody>
      </p:sp>
      <p:sp>
        <p:nvSpPr>
          <p:cNvPr id="6" name="Text 4">
            <a:extLst>
              <a:ext uri="{FF2B5EF4-FFF2-40B4-BE49-F238E27FC236}">
                <a16:creationId xmlns:a16="http://schemas.microsoft.com/office/drawing/2014/main" id="{F2A074B8-B8D0-8932-CFF6-B18F0D2115D0}"/>
              </a:ext>
            </a:extLst>
          </p:cNvPr>
          <p:cNvSpPr/>
          <p:nvPr/>
        </p:nvSpPr>
        <p:spPr>
          <a:xfrm>
            <a:off x="1497877" y="2282375"/>
            <a:ext cx="1973987" cy="262480"/>
          </a:xfrm>
          <a:prstGeom prst="rect">
            <a:avLst/>
          </a:prstGeom>
          <a:noFill/>
          <a:ln/>
        </p:spPr>
        <p:txBody>
          <a:bodyPr wrap="none" lIns="0" tIns="0" rIns="0" bIns="0" rtlCol="0" anchor="t"/>
          <a:lstStyle/>
          <a:p>
            <a:pPr marL="0" indent="0" algn="l">
              <a:lnSpc>
                <a:spcPts val="2000"/>
              </a:lnSpc>
              <a:buNone/>
            </a:pPr>
            <a:r>
              <a:rPr lang="en-US" sz="1600" b="1" dirty="0" err="1">
                <a:latin typeface="Roboto Bold" pitchFamily="34" charset="0"/>
                <a:ea typeface="Roboto Bold" pitchFamily="34" charset="-122"/>
                <a:cs typeface="Roboto Bold" pitchFamily="34" charset="-120"/>
              </a:rPr>
              <a:t>Mô</a:t>
            </a:r>
            <a:r>
              <a:rPr lang="en-US" sz="1600" b="1" dirty="0">
                <a:latin typeface="Roboto Bold" pitchFamily="34" charset="0"/>
                <a:ea typeface="Roboto Bold" pitchFamily="34" charset="-122"/>
                <a:cs typeface="Roboto Bold" pitchFamily="34" charset="-120"/>
              </a:rPr>
              <a:t> </a:t>
            </a:r>
            <a:r>
              <a:rPr lang="en-US" sz="1600" b="1" dirty="0" err="1">
                <a:latin typeface="Roboto Bold" pitchFamily="34" charset="0"/>
                <a:ea typeface="Roboto Bold" pitchFamily="34" charset="-122"/>
                <a:cs typeface="Roboto Bold" pitchFamily="34" charset="-120"/>
              </a:rPr>
              <a:t>hình</a:t>
            </a:r>
            <a:r>
              <a:rPr lang="en-US" sz="1600" b="1" dirty="0">
                <a:latin typeface="Roboto Bold" pitchFamily="34" charset="0"/>
                <a:ea typeface="Roboto Bold" pitchFamily="34" charset="-122"/>
                <a:cs typeface="Roboto Bold" pitchFamily="34" charset="-120"/>
              </a:rPr>
              <a:t> YOLO</a:t>
            </a:r>
            <a:endParaRPr lang="en-US" sz="1600" dirty="0"/>
          </a:p>
        </p:txBody>
      </p:sp>
      <p:sp>
        <p:nvSpPr>
          <p:cNvPr id="8" name="Text 5">
            <a:extLst>
              <a:ext uri="{FF2B5EF4-FFF2-40B4-BE49-F238E27FC236}">
                <a16:creationId xmlns:a16="http://schemas.microsoft.com/office/drawing/2014/main" id="{8CB78870-38E0-165C-1839-E5528D32CA98}"/>
              </a:ext>
            </a:extLst>
          </p:cNvPr>
          <p:cNvSpPr/>
          <p:nvPr/>
        </p:nvSpPr>
        <p:spPr>
          <a:xfrm>
            <a:off x="1497876" y="2680891"/>
            <a:ext cx="10037195" cy="438361"/>
          </a:xfrm>
          <a:prstGeom prst="rect">
            <a:avLst/>
          </a:prstGeom>
          <a:noFill/>
          <a:ln/>
        </p:spPr>
        <p:txBody>
          <a:bodyPr wrap="square" lIns="0" tIns="0" rIns="0" bIns="0" rtlCol="0" anchor="t"/>
          <a:lstStyle/>
          <a:p>
            <a:pPr marL="0" indent="0" algn="l">
              <a:lnSpc>
                <a:spcPts val="1650"/>
              </a:lnSpc>
              <a:buNone/>
            </a:pPr>
            <a:r>
              <a:rPr lang="vi-VN" sz="1400" dirty="0">
                <a:latin typeface="Roboto" pitchFamily="34" charset="0"/>
                <a:ea typeface="Roboto" pitchFamily="34" charset="-122"/>
                <a:cs typeface="Roboto" pitchFamily="34" charset="-120"/>
              </a:rPr>
              <a:t>YOLOv8 nhận diện hành vi đánh nhau; YOLOv8s phát hiện vũ khí. Phát hiện người phục vụ đếm đám đông theo cấu hình camera.</a:t>
            </a:r>
            <a:endParaRPr lang="en-US" sz="1400" dirty="0"/>
          </a:p>
        </p:txBody>
      </p:sp>
      <p:sp>
        <p:nvSpPr>
          <p:cNvPr id="9" name="Shape 6">
            <a:extLst>
              <a:ext uri="{FF2B5EF4-FFF2-40B4-BE49-F238E27FC236}">
                <a16:creationId xmlns:a16="http://schemas.microsoft.com/office/drawing/2014/main" id="{1C41BC08-6262-7176-01A5-F010C6ECC76A}"/>
              </a:ext>
            </a:extLst>
          </p:cNvPr>
          <p:cNvSpPr/>
          <p:nvPr/>
        </p:nvSpPr>
        <p:spPr>
          <a:xfrm>
            <a:off x="612649" y="3378873"/>
            <a:ext cx="10966704" cy="1104318"/>
          </a:xfrm>
          <a:prstGeom prst="roundRect">
            <a:avLst>
              <a:gd name="adj" fmla="val 7000"/>
            </a:avLst>
          </a:prstGeom>
          <a:solidFill>
            <a:srgbClr val="FBECE5"/>
          </a:solidFill>
          <a:ln w="22860">
            <a:solidFill>
              <a:srgbClr val="E5B2B2"/>
            </a:solidFill>
            <a:prstDash val="solid"/>
          </a:ln>
        </p:spPr>
        <p:txBody>
          <a:bodyPr/>
          <a:lstStyle/>
          <a:p>
            <a:endParaRPr lang="vi-VN"/>
          </a:p>
        </p:txBody>
      </p:sp>
      <p:sp>
        <p:nvSpPr>
          <p:cNvPr id="10" name="Shape 7">
            <a:extLst>
              <a:ext uri="{FF2B5EF4-FFF2-40B4-BE49-F238E27FC236}">
                <a16:creationId xmlns:a16="http://schemas.microsoft.com/office/drawing/2014/main" id="{E62D15C0-2B4A-83CF-98F9-486EC88908A3}"/>
              </a:ext>
            </a:extLst>
          </p:cNvPr>
          <p:cNvSpPr/>
          <p:nvPr/>
        </p:nvSpPr>
        <p:spPr>
          <a:xfrm>
            <a:off x="635508" y="3402849"/>
            <a:ext cx="614111" cy="1057482"/>
          </a:xfrm>
          <a:prstGeom prst="roundRect">
            <a:avLst>
              <a:gd name="adj" fmla="val 6683"/>
            </a:avLst>
          </a:prstGeom>
          <a:solidFill>
            <a:srgbClr val="FFCCCC"/>
          </a:solidFill>
          <a:ln/>
        </p:spPr>
        <p:txBody>
          <a:bodyPr/>
          <a:lstStyle/>
          <a:p>
            <a:endParaRPr lang="vi-VN"/>
          </a:p>
        </p:txBody>
      </p:sp>
      <p:sp>
        <p:nvSpPr>
          <p:cNvPr id="11" name="Text 8">
            <a:extLst>
              <a:ext uri="{FF2B5EF4-FFF2-40B4-BE49-F238E27FC236}">
                <a16:creationId xmlns:a16="http://schemas.microsoft.com/office/drawing/2014/main" id="{BAB95F82-7110-6BF7-5F5E-6EE31CE1A4B4}"/>
              </a:ext>
            </a:extLst>
          </p:cNvPr>
          <p:cNvSpPr/>
          <p:nvPr/>
        </p:nvSpPr>
        <p:spPr>
          <a:xfrm>
            <a:off x="856249" y="3767495"/>
            <a:ext cx="230240" cy="345054"/>
          </a:xfrm>
          <a:prstGeom prst="rect">
            <a:avLst/>
          </a:prstGeom>
          <a:noFill/>
          <a:ln/>
        </p:spPr>
        <p:txBody>
          <a:bodyPr wrap="none" lIns="0" tIns="0" rIns="0" bIns="0" rtlCol="0" anchor="t"/>
          <a:lstStyle/>
          <a:p>
            <a:pPr marL="0" indent="0" algn="l">
              <a:lnSpc>
                <a:spcPts val="2100"/>
              </a:lnSpc>
              <a:buNone/>
            </a:pPr>
            <a:r>
              <a:rPr lang="en-US" sz="2100" b="1" dirty="0">
                <a:latin typeface="Roboto Bold" pitchFamily="34" charset="0"/>
                <a:ea typeface="Roboto Bold" pitchFamily="34" charset="-122"/>
                <a:cs typeface="Roboto Bold" pitchFamily="34" charset="-120"/>
              </a:rPr>
              <a:t>2</a:t>
            </a:r>
            <a:endParaRPr lang="en-US" sz="2100" dirty="0"/>
          </a:p>
        </p:txBody>
      </p:sp>
      <p:sp>
        <p:nvSpPr>
          <p:cNvPr id="12" name="Text 9">
            <a:extLst>
              <a:ext uri="{FF2B5EF4-FFF2-40B4-BE49-F238E27FC236}">
                <a16:creationId xmlns:a16="http://schemas.microsoft.com/office/drawing/2014/main" id="{5304560D-C71C-C02A-EF0B-E928F0884DCB}"/>
              </a:ext>
            </a:extLst>
          </p:cNvPr>
          <p:cNvSpPr/>
          <p:nvPr/>
        </p:nvSpPr>
        <p:spPr>
          <a:xfrm>
            <a:off x="1497877" y="3601468"/>
            <a:ext cx="1752190" cy="262480"/>
          </a:xfrm>
          <a:prstGeom prst="rect">
            <a:avLst/>
          </a:prstGeom>
          <a:noFill/>
          <a:ln/>
        </p:spPr>
        <p:txBody>
          <a:bodyPr wrap="none" lIns="0" tIns="0" rIns="0" bIns="0" rtlCol="0" anchor="t"/>
          <a:lstStyle/>
          <a:p>
            <a:pPr marL="0" indent="0" algn="l">
              <a:lnSpc>
                <a:spcPts val="2000"/>
              </a:lnSpc>
              <a:buNone/>
            </a:pPr>
            <a:r>
              <a:rPr lang="en-US" sz="1600" b="1" dirty="0" err="1">
                <a:latin typeface="Roboto Bold" pitchFamily="34" charset="0"/>
                <a:ea typeface="Roboto Bold" pitchFamily="34" charset="-122"/>
                <a:cs typeface="Roboto Bold" pitchFamily="34" charset="-120"/>
              </a:rPr>
              <a:t>BoT-SORT và BBoxTracker</a:t>
            </a:r>
            <a:endParaRPr lang="en-US" sz="1600" dirty="0"/>
          </a:p>
        </p:txBody>
      </p:sp>
      <p:sp>
        <p:nvSpPr>
          <p:cNvPr id="13" name="Text 10">
            <a:extLst>
              <a:ext uri="{FF2B5EF4-FFF2-40B4-BE49-F238E27FC236}">
                <a16:creationId xmlns:a16="http://schemas.microsoft.com/office/drawing/2014/main" id="{DAE48DE0-B179-6A1D-5735-30D8A763A0B7}"/>
              </a:ext>
            </a:extLst>
          </p:cNvPr>
          <p:cNvSpPr/>
          <p:nvPr/>
        </p:nvSpPr>
        <p:spPr>
          <a:xfrm>
            <a:off x="1497878" y="3944831"/>
            <a:ext cx="9737570" cy="428728"/>
          </a:xfrm>
          <a:prstGeom prst="rect">
            <a:avLst/>
          </a:prstGeom>
          <a:noFill/>
          <a:ln/>
        </p:spPr>
        <p:txBody>
          <a:bodyPr wrap="none" lIns="0" tIns="0" rIns="0" bIns="0" rtlCol="0" anchor="t"/>
          <a:lstStyle/>
          <a:p>
            <a:pPr marL="0" indent="0" algn="l">
              <a:lnSpc>
                <a:spcPts val="1650"/>
              </a:lnSpc>
              <a:buNone/>
            </a:pPr>
            <a:r>
              <a:rPr lang="vi-VN" sz="1400" dirty="0">
                <a:latin typeface="Roboto" pitchFamily="34" charset="0"/>
                <a:ea typeface="Roboto" pitchFamily="34" charset="-122"/>
                <a:cs typeface="Roboto" pitchFamily="34" charset="-120"/>
              </a:rPr>
              <a:t>BoT-SORT theo dõi người giữa các khung hình; BBoxTracker theo dõi vũ khí. ID có thể thay đổi khi che khuất hoặc mất dấu.</a:t>
            </a:r>
          </a:p>
        </p:txBody>
      </p:sp>
      <p:sp>
        <p:nvSpPr>
          <p:cNvPr id="14" name="Shape 11">
            <a:extLst>
              <a:ext uri="{FF2B5EF4-FFF2-40B4-BE49-F238E27FC236}">
                <a16:creationId xmlns:a16="http://schemas.microsoft.com/office/drawing/2014/main" id="{794A6228-CF91-5595-A648-F0D202D78EFE}"/>
              </a:ext>
            </a:extLst>
          </p:cNvPr>
          <p:cNvSpPr/>
          <p:nvPr/>
        </p:nvSpPr>
        <p:spPr>
          <a:xfrm>
            <a:off x="612649" y="4600572"/>
            <a:ext cx="10966704" cy="1266827"/>
          </a:xfrm>
          <a:prstGeom prst="roundRect">
            <a:avLst>
              <a:gd name="adj" fmla="val 7000"/>
            </a:avLst>
          </a:prstGeom>
          <a:solidFill>
            <a:srgbClr val="FBECE5"/>
          </a:solidFill>
          <a:ln w="22860">
            <a:solidFill>
              <a:srgbClr val="E5B2B2"/>
            </a:solidFill>
            <a:prstDash val="solid"/>
          </a:ln>
        </p:spPr>
        <p:txBody>
          <a:bodyPr/>
          <a:lstStyle/>
          <a:p>
            <a:endParaRPr lang="vi-VN"/>
          </a:p>
        </p:txBody>
      </p:sp>
      <p:sp>
        <p:nvSpPr>
          <p:cNvPr id="15" name="Shape 12">
            <a:extLst>
              <a:ext uri="{FF2B5EF4-FFF2-40B4-BE49-F238E27FC236}">
                <a16:creationId xmlns:a16="http://schemas.microsoft.com/office/drawing/2014/main" id="{18F7AE24-1C9A-A6ED-7E97-A2CAE5A50094}"/>
              </a:ext>
            </a:extLst>
          </p:cNvPr>
          <p:cNvSpPr/>
          <p:nvPr/>
        </p:nvSpPr>
        <p:spPr>
          <a:xfrm>
            <a:off x="635508" y="4624548"/>
            <a:ext cx="614111" cy="1213099"/>
          </a:xfrm>
          <a:prstGeom prst="roundRect">
            <a:avLst>
              <a:gd name="adj" fmla="val 6683"/>
            </a:avLst>
          </a:prstGeom>
          <a:solidFill>
            <a:srgbClr val="FFCCCC"/>
          </a:solidFill>
          <a:ln/>
        </p:spPr>
        <p:txBody>
          <a:bodyPr/>
          <a:lstStyle/>
          <a:p>
            <a:endParaRPr lang="vi-VN"/>
          </a:p>
        </p:txBody>
      </p:sp>
      <p:sp>
        <p:nvSpPr>
          <p:cNvPr id="16" name="Text 13">
            <a:extLst>
              <a:ext uri="{FF2B5EF4-FFF2-40B4-BE49-F238E27FC236}">
                <a16:creationId xmlns:a16="http://schemas.microsoft.com/office/drawing/2014/main" id="{1E933C1C-C97C-8F2B-8E37-24F8878B89C5}"/>
              </a:ext>
            </a:extLst>
          </p:cNvPr>
          <p:cNvSpPr/>
          <p:nvPr/>
        </p:nvSpPr>
        <p:spPr>
          <a:xfrm>
            <a:off x="827443" y="5166530"/>
            <a:ext cx="230240" cy="345054"/>
          </a:xfrm>
          <a:prstGeom prst="rect">
            <a:avLst/>
          </a:prstGeom>
          <a:noFill/>
          <a:ln/>
        </p:spPr>
        <p:txBody>
          <a:bodyPr wrap="none" lIns="0" tIns="0" rIns="0" bIns="0" rtlCol="0" anchor="t"/>
          <a:lstStyle/>
          <a:p>
            <a:pPr marL="0" indent="0" algn="l">
              <a:lnSpc>
                <a:spcPts val="2100"/>
              </a:lnSpc>
              <a:buNone/>
            </a:pPr>
            <a:r>
              <a:rPr lang="en-US" sz="2100" b="1" dirty="0">
                <a:latin typeface="Roboto Bold" pitchFamily="34" charset="0"/>
                <a:ea typeface="Roboto Bold" pitchFamily="34" charset="-122"/>
                <a:cs typeface="Roboto Bold" pitchFamily="34" charset="-120"/>
              </a:rPr>
              <a:t>3</a:t>
            </a:r>
            <a:endParaRPr lang="en-US" sz="2100" dirty="0"/>
          </a:p>
        </p:txBody>
      </p:sp>
      <p:sp>
        <p:nvSpPr>
          <p:cNvPr id="17" name="Text 14">
            <a:extLst>
              <a:ext uri="{FF2B5EF4-FFF2-40B4-BE49-F238E27FC236}">
                <a16:creationId xmlns:a16="http://schemas.microsoft.com/office/drawing/2014/main" id="{6D6CCBFB-F65B-1432-47C5-F5DC41B68A0A}"/>
              </a:ext>
            </a:extLst>
          </p:cNvPr>
          <p:cNvSpPr/>
          <p:nvPr/>
        </p:nvSpPr>
        <p:spPr>
          <a:xfrm>
            <a:off x="1497877" y="4823169"/>
            <a:ext cx="1752190" cy="262480"/>
          </a:xfrm>
          <a:prstGeom prst="rect">
            <a:avLst/>
          </a:prstGeom>
          <a:noFill/>
          <a:ln/>
        </p:spPr>
        <p:txBody>
          <a:bodyPr wrap="none" lIns="0" tIns="0" rIns="0" bIns="0" rtlCol="0" anchor="t"/>
          <a:lstStyle/>
          <a:p>
            <a:pPr marL="0" indent="0" algn="l">
              <a:lnSpc>
                <a:spcPts val="2000"/>
              </a:lnSpc>
              <a:buNone/>
            </a:pPr>
            <a:r>
              <a:rPr lang="en-US" sz="1600" b="1" dirty="0" err="1">
                <a:latin typeface="Roboto Bold" pitchFamily="34" charset="0"/>
                <a:ea typeface="Roboto Bold" pitchFamily="34" charset="-122"/>
                <a:cs typeface="Roboto Bold" pitchFamily="34" charset="-120"/>
              </a:rPr>
              <a:t>InsightFace</a:t>
            </a:r>
            <a:r>
              <a:rPr lang="en-US" sz="1600" b="1" dirty="0">
                <a:latin typeface="Roboto Bold" pitchFamily="34" charset="0"/>
                <a:ea typeface="Roboto Bold" pitchFamily="34" charset="-122"/>
                <a:cs typeface="Roboto Bold" pitchFamily="34" charset="-120"/>
              </a:rPr>
              <a:t> &amp; Cosine Similarity</a:t>
            </a:r>
            <a:endParaRPr lang="en-US" sz="1600" dirty="0"/>
          </a:p>
        </p:txBody>
      </p:sp>
      <p:sp>
        <p:nvSpPr>
          <p:cNvPr id="18" name="Text 15">
            <a:extLst>
              <a:ext uri="{FF2B5EF4-FFF2-40B4-BE49-F238E27FC236}">
                <a16:creationId xmlns:a16="http://schemas.microsoft.com/office/drawing/2014/main" id="{16409039-0EB3-CEBF-AA89-759C0798B5A9}"/>
              </a:ext>
            </a:extLst>
          </p:cNvPr>
          <p:cNvSpPr/>
          <p:nvPr/>
        </p:nvSpPr>
        <p:spPr>
          <a:xfrm>
            <a:off x="1497877" y="5166530"/>
            <a:ext cx="10037195" cy="700869"/>
          </a:xfrm>
          <a:prstGeom prst="rect">
            <a:avLst/>
          </a:prstGeom>
          <a:noFill/>
          <a:ln/>
        </p:spPr>
        <p:txBody>
          <a:bodyPr wrap="none" lIns="0" tIns="0" rIns="0" bIns="0" rtlCol="0" anchor="t"/>
          <a:lstStyle/>
          <a:p>
            <a:pPr marL="0" indent="0" algn="l">
              <a:lnSpc>
                <a:spcPts val="1650"/>
              </a:lnSpc>
              <a:buNone/>
            </a:pPr>
            <a:r>
              <a:rPr lang="vi-VN" sz="1400" dirty="0">
                <a:latin typeface="Roboto" pitchFamily="34" charset="0"/>
                <a:ea typeface="Roboto" pitchFamily="34" charset="-122"/>
                <a:cs typeface="Roboto" pitchFamily="34" charset="-120"/>
              </a:rPr>
              <a:t>InsightFace buffalo_l trích xuất vector khuôn mặt 512 chiều.</a:t>
            </a:r>
          </a:p>
          <a:p>
            <a:pPr marL="0" indent="0" algn="l">
              <a:lnSpc>
                <a:spcPts val="1650"/>
              </a:lnSpc>
              <a:buNone/>
            </a:pPr>
            <a:r>
              <a:rPr lang="vi-VN" sz="1400" dirty="0">
                <a:latin typeface="Roboto" pitchFamily="34" charset="0"/>
                <a:ea typeface="Roboto" pitchFamily="34" charset="-122"/>
                <a:cs typeface="Roboto" pitchFamily="34" charset="-120"/>
              </a:rPr>
              <a:t>Đối sánh cosine similarity với dữ liệu đăng ký.</a:t>
            </a:r>
          </a:p>
          <a:p>
            <a:pPr marL="0" indent="0" algn="l">
              <a:lnSpc>
                <a:spcPts val="1650"/>
              </a:lnSpc>
              <a:buNone/>
            </a:pPr>
            <a:r>
              <a:rPr lang="vi-VN" sz="1400" dirty="0">
                <a:latin typeface="Roboto" pitchFamily="34" charset="0"/>
                <a:ea typeface="Roboto" pitchFamily="34" charset="-122"/>
                <a:cs typeface="Roboto" pitchFamily="34" charset="-120"/>
              </a:rPr>
              <a:t>Kết hợp xác nhận qua nhiều khung hình; Unknown không tự động đồng nghĩa xâm nhập.</a:t>
            </a:r>
            <a:endParaRPr lang="en-US" sz="1400" dirty="0"/>
          </a:p>
        </p:txBody>
      </p:sp>
    </p:spTree>
    <p:extLst>
      <p:ext uri="{BB962C8B-B14F-4D97-AF65-F5344CB8AC3E}">
        <p14:creationId xmlns:p14="http://schemas.microsoft.com/office/powerpoint/2010/main" val="26822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35760-F168-8237-23AE-2BC3FEE1712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CC0413C-954C-53F6-0B25-23994685693E}"/>
              </a:ext>
            </a:extLst>
          </p:cNvPr>
          <p:cNvSpPr txBox="1">
            <a:spLocks/>
          </p:cNvSpPr>
          <p:nvPr/>
        </p:nvSpPr>
        <p:spPr>
          <a:xfrm>
            <a:off x="697611" y="773959"/>
            <a:ext cx="6037236" cy="114300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a:lstStyle>
          <a:p>
            <a:pPr>
              <a:spcAft>
                <a:spcPts val="600"/>
              </a:spcAft>
            </a:pPr>
            <a:r>
              <a:rPr lang="en-US" sz="3600" b="1" kern="1200" cap="all" spc="50" baseline="0" dirty="0">
                <a:latin typeface="Times New Roman" panose="02020603050405020304" pitchFamily="18" charset="0"/>
                <a:cs typeface="Times New Roman" panose="02020603050405020304" pitchFamily="18" charset="0"/>
              </a:rPr>
              <a:t>2.  TRỢ LÝ ẢO HỖ TRỢ GIÁM SÁT AN NINH</a:t>
            </a:r>
          </a:p>
        </p:txBody>
      </p:sp>
      <p:sp>
        <p:nvSpPr>
          <p:cNvPr id="6" name="Text Placeholder 2">
            <a:extLst>
              <a:ext uri="{FF2B5EF4-FFF2-40B4-BE49-F238E27FC236}">
                <a16:creationId xmlns:a16="http://schemas.microsoft.com/office/drawing/2014/main" id="{88754BEB-14AC-D476-8E53-BBC082241CD4}"/>
              </a:ext>
            </a:extLst>
          </p:cNvPr>
          <p:cNvSpPr txBox="1">
            <a:spLocks/>
          </p:cNvSpPr>
          <p:nvPr/>
        </p:nvSpPr>
        <p:spPr>
          <a:xfrm>
            <a:off x="859536" y="2202135"/>
            <a:ext cx="6236589" cy="374855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Times New Roman" panose="02020603050405020304" pitchFamily="18" charset="0"/>
              <a:buChar char="─"/>
            </a:pPr>
            <a:r>
              <a:rPr lang="vi-VN" sz="1600" b="1" dirty="0">
                <a:latin typeface="Times New Roman" panose="02020603050405020304" pitchFamily="18" charset="0"/>
                <a:cs typeface="Times New Roman" panose="02020603050405020304" pitchFamily="18" charset="0"/>
              </a:rPr>
              <a:t>Trợ lý ASA tích hợp Gemini API:</a:t>
            </a:r>
          </a:p>
          <a:p>
            <a:pPr marL="228600" lvl="1" indent="0" algn="just">
              <a:buNone/>
            </a:pPr>
            <a:r>
              <a:rPr lang="vi-VN" sz="1400" dirty="0">
                <a:latin typeface="Times New Roman" panose="02020603050405020304" pitchFamily="18" charset="0"/>
                <a:cs typeface="Times New Roman" panose="02020603050405020304" pitchFamily="18" charset="0"/>
              </a:rPr>
              <a:t>Hỗ trợ hỏi đáp bằng tiếng Việt về sự kiện an ninh và quy trình nghiệp vụ.</a:t>
            </a:r>
          </a:p>
          <a:p>
            <a:pPr algn="just">
              <a:buFont typeface="Times New Roman" panose="02020603050405020304" pitchFamily="18" charset="0"/>
              <a:buChar char="─"/>
            </a:pPr>
            <a:r>
              <a:rPr lang="vi-VN" sz="1600" b="1" dirty="0">
                <a:latin typeface="Times New Roman" panose="02020603050405020304" pitchFamily="18" charset="0"/>
                <a:cs typeface="Times New Roman" panose="02020603050405020304" pitchFamily="18" charset="0"/>
              </a:rPr>
              <a:t>Truy xuất thông tin:</a:t>
            </a:r>
          </a:p>
          <a:p>
            <a:pPr marL="228600" lvl="1" indent="0" algn="just">
              <a:buNone/>
            </a:pPr>
            <a:r>
              <a:rPr lang="vi-VN" sz="1400" dirty="0">
                <a:latin typeface="Times New Roman" panose="02020603050405020304" pitchFamily="18" charset="0"/>
                <a:cs typeface="Times New Roman" panose="02020603050405020304" pitchFamily="18" charset="0"/>
              </a:rPr>
              <a:t>Backend truy vấn SQL và tìm nội dung SOP trong PDF/TXT theo từ khóa, cung cấp ngữ cảnh cho Gemini. Vector RAG là hướng phát triển.</a:t>
            </a:r>
          </a:p>
          <a:p>
            <a:pPr algn="just">
              <a:buFont typeface="Times New Roman" panose="02020603050405020304" pitchFamily="18" charset="0"/>
              <a:buChar char="─"/>
            </a:pPr>
            <a:r>
              <a:rPr lang="vi-VN" sz="1600" b="1" dirty="0">
                <a:latin typeface="Times New Roman" panose="02020603050405020304" pitchFamily="18" charset="0"/>
                <a:cs typeface="Times New Roman" panose="02020603050405020304" pitchFamily="18" charset="0"/>
              </a:rPr>
              <a:t>Hỗ trợ báo cáo ca trực:</a:t>
            </a:r>
          </a:p>
          <a:p>
            <a:pPr marL="228600" lvl="1" indent="0" algn="just">
              <a:buNone/>
            </a:pPr>
            <a:r>
              <a:rPr lang="vi-VN" sz="1400" dirty="0">
                <a:latin typeface="Times New Roman" panose="02020603050405020304" pitchFamily="18" charset="0"/>
                <a:cs typeface="Times New Roman" panose="02020603050405020304" pitchFamily="18" charset="0"/>
              </a:rPr>
              <a:t>Tổng hợp dữ liệu sự kiện để tạo dự thảo; nhân viên kiểm tra, chỉnh sửa và lưu báo cáo.</a:t>
            </a:r>
            <a:endParaRPr lang="en-US" sz="1400" dirty="0">
              <a:latin typeface="Times New Roman" panose="02020603050405020304" pitchFamily="18" charset="0"/>
              <a:cs typeface="Times New Roman" panose="02020603050405020304" pitchFamily="18" charset="0"/>
            </a:endParaRPr>
          </a:p>
          <a:p>
            <a:r>
              <a:t>Phạm vi:</a:t>
            </a:r>
          </a:p>
          <a:p>
            <a:r>
              <a:t>ASA hỗ trợ người vận hành; không thay thế mô hình nhận diện hoặc quyết định xử lý. Chưa có phép đo xác nhận mức tiết kiệm thời gian.</a:t>
            </a:r>
          </a:p>
        </p:txBody>
      </p:sp>
      <p:pic>
        <p:nvPicPr>
          <p:cNvPr id="5124" name="Picture 4" descr="Gemini Google AI Pro 6 Tháng - Nâng Cấp Chính Chủ">
            <a:extLst>
              <a:ext uri="{FF2B5EF4-FFF2-40B4-BE49-F238E27FC236}">
                <a16:creationId xmlns:a16="http://schemas.microsoft.com/office/drawing/2014/main" id="{D9774EB6-74A8-3AD2-1366-4045414CE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82" r="1" b="1"/>
          <a:stretch>
            <a:fillRect/>
          </a:stretch>
        </p:blipFill>
        <p:spPr bwMode="auto">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solidFill>
            <a:srgbClr val="FFFFFF"/>
          </a:solidFill>
        </p:spPr>
      </p:pic>
    </p:spTree>
    <p:extLst>
      <p:ext uri="{BB962C8B-B14F-4D97-AF65-F5344CB8AC3E}">
        <p14:creationId xmlns:p14="http://schemas.microsoft.com/office/powerpoint/2010/main" val="3613333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360D7-F74C-CD9E-C576-1CB8FFE8778E}"/>
              </a:ext>
            </a:extLst>
          </p:cNvPr>
          <p:cNvSpPr>
            <a:spLocks noGrp="1"/>
          </p:cNvSpPr>
          <p:nvPr>
            <p:ph type="ctrTitle"/>
          </p:nvPr>
        </p:nvSpPr>
        <p:spPr>
          <a:xfrm>
            <a:off x="2136826" y="480885"/>
            <a:ext cx="7918348" cy="3630384"/>
          </a:xfrm>
        </p:spPr>
        <p:txBody>
          <a:bodyPr/>
          <a:lstStyle/>
          <a:p>
            <a:r>
              <a:rPr lang="en-US" sz="5400" b="1" dirty="0" err="1">
                <a:latin typeface="Roboto" panose="02000000000000000000" pitchFamily="2" charset="0"/>
                <a:ea typeface="Roboto" panose="02000000000000000000" pitchFamily="2" charset="0"/>
                <a:cs typeface="Roboto" panose="02000000000000000000" pitchFamily="2" charset="0"/>
              </a:rPr>
              <a:t>Phân</a:t>
            </a:r>
            <a:r>
              <a:rPr lang="en-US" sz="5400" b="1" dirty="0">
                <a:latin typeface="Roboto" panose="02000000000000000000" pitchFamily="2" charset="0"/>
                <a:ea typeface="Roboto" panose="02000000000000000000" pitchFamily="2" charset="0"/>
                <a:cs typeface="Roboto" panose="02000000000000000000" pitchFamily="2" charset="0"/>
              </a:rPr>
              <a:t> </a:t>
            </a:r>
            <a:r>
              <a:rPr lang="en-US" sz="5400" b="1" dirty="0" err="1">
                <a:latin typeface="Roboto" panose="02000000000000000000" pitchFamily="2" charset="0"/>
                <a:ea typeface="Roboto" panose="02000000000000000000" pitchFamily="2" charset="0"/>
                <a:cs typeface="Roboto" panose="02000000000000000000" pitchFamily="2" charset="0"/>
              </a:rPr>
              <a:t>tích</a:t>
            </a:r>
            <a:r>
              <a:rPr lang="en-US" sz="5400" b="1" dirty="0">
                <a:latin typeface="Roboto" panose="02000000000000000000" pitchFamily="2" charset="0"/>
                <a:ea typeface="Roboto" panose="02000000000000000000" pitchFamily="2" charset="0"/>
                <a:cs typeface="Roboto" panose="02000000000000000000" pitchFamily="2" charset="0"/>
              </a:rPr>
              <a:t> - </a:t>
            </a:r>
            <a:r>
              <a:rPr lang="en-US" sz="5400" b="1" dirty="0" err="1">
                <a:latin typeface="Roboto" panose="02000000000000000000" pitchFamily="2" charset="0"/>
                <a:ea typeface="Roboto" panose="02000000000000000000" pitchFamily="2" charset="0"/>
                <a:cs typeface="Roboto" panose="02000000000000000000" pitchFamily="2" charset="0"/>
              </a:rPr>
              <a:t>Thiết</a:t>
            </a:r>
            <a:r>
              <a:rPr lang="en-US" sz="5400" b="1" dirty="0">
                <a:latin typeface="Roboto" panose="02000000000000000000" pitchFamily="2" charset="0"/>
                <a:ea typeface="Roboto" panose="02000000000000000000" pitchFamily="2" charset="0"/>
                <a:cs typeface="Roboto" panose="02000000000000000000" pitchFamily="2" charset="0"/>
              </a:rPr>
              <a:t> </a:t>
            </a:r>
            <a:r>
              <a:rPr lang="en-US" sz="5400" b="1" dirty="0" err="1">
                <a:latin typeface="Roboto" panose="02000000000000000000" pitchFamily="2" charset="0"/>
                <a:ea typeface="Roboto" panose="02000000000000000000" pitchFamily="2" charset="0"/>
                <a:cs typeface="Roboto" panose="02000000000000000000" pitchFamily="2" charset="0"/>
              </a:rPr>
              <a:t>kế</a:t>
            </a:r>
            <a:endParaRPr lang="en-US" sz="5400" dirty="0">
              <a:effectLst/>
              <a:latin typeface="Roboto" panose="02000000000000000000" pitchFamily="2" charset="0"/>
              <a:ea typeface="Roboto" panose="02000000000000000000" pitchFamily="2" charset="0"/>
              <a:cs typeface="Roboto" panose="02000000000000000000" pitchFamily="2" charset="0"/>
            </a:endParaRPr>
          </a:p>
        </p:txBody>
      </p:sp>
      <p:sp>
        <p:nvSpPr>
          <p:cNvPr id="3" name="Freeform 12">
            <a:extLst>
              <a:ext uri="{FF2B5EF4-FFF2-40B4-BE49-F238E27FC236}">
                <a16:creationId xmlns:a16="http://schemas.microsoft.com/office/drawing/2014/main" id="{FCFCB825-A407-D7D5-1B27-AE20EA934B67}"/>
              </a:ext>
            </a:extLst>
          </p:cNvPr>
          <p:cNvSpPr/>
          <p:nvPr/>
        </p:nvSpPr>
        <p:spPr>
          <a:xfrm>
            <a:off x="9376229" y="-169666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12">
            <a:extLst>
              <a:ext uri="{FF2B5EF4-FFF2-40B4-BE49-F238E27FC236}">
                <a16:creationId xmlns:a16="http://schemas.microsoft.com/office/drawing/2014/main" id="{A5412CCA-181E-99AE-5926-221972E3BDF3}"/>
              </a:ext>
            </a:extLst>
          </p:cNvPr>
          <p:cNvSpPr/>
          <p:nvPr/>
        </p:nvSpPr>
        <p:spPr>
          <a:xfrm rot="13287298">
            <a:off x="-4391831" y="415290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extLst>
      <p:ext uri="{BB962C8B-B14F-4D97-AF65-F5344CB8AC3E}">
        <p14:creationId xmlns:p14="http://schemas.microsoft.com/office/powerpoint/2010/main" val="185838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17BBF4F-7412-A5F8-0C83-B668755AA539}"/>
              </a:ext>
            </a:extLst>
          </p:cNvPr>
          <p:cNvSpPr txBox="1"/>
          <p:nvPr/>
        </p:nvSpPr>
        <p:spPr>
          <a:xfrm>
            <a:off x="2859057" y="438090"/>
            <a:ext cx="6473884" cy="954107"/>
          </a:xfrm>
          <a:prstGeom prst="rect">
            <a:avLst/>
          </a:prstGeom>
          <a:noFill/>
        </p:spPr>
        <p:txBody>
          <a:bodyPr wrap="square" rtlCol="0">
            <a:spAutoFit/>
          </a:bodyPr>
          <a:lstStyle/>
          <a:p>
            <a:r>
              <a:rPr lang="vi-VN" sz="2800" b="1" dirty="0">
                <a:latin typeface="Times New Roman" panose="02020603050405020304" pitchFamily="18" charset="0"/>
                <a:cs typeface="Times New Roman" panose="02020603050405020304" pitchFamily="18" charset="0"/>
              </a:rPr>
              <a:t>Đường cong huấn luyện – hồ sơ minh họa</a:t>
            </a:r>
            <a:endParaRPr lang="en-US" sz="28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8D69229-4B7E-C536-9795-FBD59D428D2C}"/>
              </a:ext>
            </a:extLst>
          </p:cNvPr>
          <p:cNvPicPr>
            <a:picLocks noChangeAspect="1"/>
          </p:cNvPicPr>
          <p:nvPr/>
        </p:nvPicPr>
        <p:blipFill>
          <a:blip r:embed="rId3"/>
          <a:stretch>
            <a:fillRect/>
          </a:stretch>
        </p:blipFill>
        <p:spPr>
          <a:xfrm>
            <a:off x="736059" y="1059969"/>
            <a:ext cx="10719881" cy="5359941"/>
          </a:xfrm>
          <a:prstGeom prst="rect">
            <a:avLst/>
          </a:prstGeom>
        </p:spPr>
      </p:pic>
      <p:sp>
        <p:nvSpPr>
          <p:cNvPr id="7" name="TextBox 6"/>
          <p:cNvSpPr txBox="1"/>
          <p:nvPr/>
        </p:nvSpPr>
        <p:spPr>
          <a:xfrm>
            <a:off x="274320" y="6419088"/>
            <a:ext cx="11643360" cy="384048"/>
          </a:xfrm>
          <a:prstGeom prst="rect">
            <a:avLst/>
          </a:prstGeom>
          <a:noFill/>
        </p:spPr>
        <p:txBody>
          <a:bodyPr wrap="square">
            <a:spAutoFit/>
          </a:bodyPr>
          <a:lstStyle/>
          <a:p>
            <a:r>
              <a:rPr sz="1100">
                <a:solidFill>
                  <a:srgbClr val="373737"/>
                </a:solidFill>
              </a:rPr>
              <a:t>Ảnh giữ từ bản gốc; chưa xác định run/checkpoint của biểu đồ. Số liệu sử dụng để báo cáo được ghi riêng ở slide 22.</a:t>
            </a:r>
          </a:p>
        </p:txBody>
      </p:sp>
    </p:spTree>
    <p:extLst>
      <p:ext uri="{BB962C8B-B14F-4D97-AF65-F5344CB8AC3E}">
        <p14:creationId xmlns:p14="http://schemas.microsoft.com/office/powerpoint/2010/main" val="327273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772EC-571C-41F6-715A-4736A35BE98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8F955DD-E5D1-8D37-C815-E5939A278EEA}"/>
              </a:ext>
            </a:extLst>
          </p:cNvPr>
          <p:cNvPicPr>
            <a:picLocks noChangeAspect="1"/>
          </p:cNvPicPr>
          <p:nvPr/>
        </p:nvPicPr>
        <p:blipFill>
          <a:blip r:embed="rId3"/>
          <a:stretch>
            <a:fillRect/>
          </a:stretch>
        </p:blipFill>
        <p:spPr>
          <a:xfrm>
            <a:off x="520045" y="359120"/>
            <a:ext cx="11151909" cy="6139759"/>
          </a:xfrm>
          <a:prstGeom prst="rect">
            <a:avLst/>
          </a:prstGeom>
        </p:spPr>
      </p:pic>
      <p:sp>
        <p:nvSpPr>
          <p:cNvPr id="3" name="TextBox 2"/>
          <p:cNvSpPr txBox="1"/>
          <p:nvPr/>
        </p:nvSpPr>
        <p:spPr>
          <a:xfrm>
            <a:off x="274320" y="6419088"/>
            <a:ext cx="11643360" cy="384048"/>
          </a:xfrm>
          <a:prstGeom prst="rect">
            <a:avLst/>
          </a:prstGeom>
          <a:noFill/>
        </p:spPr>
        <p:txBody>
          <a:bodyPr wrap="square">
            <a:spAutoFit/>
          </a:bodyPr>
          <a:lstStyle/>
          <a:p>
            <a:r>
              <a:rPr sz="1100">
                <a:solidFill>
                  <a:srgbClr val="373737"/>
                </a:solidFill>
              </a:rPr>
              <a:t>Đối chiếu: SQL lưu dữ liệu/đường dẫn ảnh; ASA dùng truy xuất từ khóa/SQL và Gemini. Tên bảng hiện hành theo Chương 3.</a:t>
            </a:r>
          </a:p>
        </p:txBody>
      </p:sp>
    </p:spTree>
    <p:extLst>
      <p:ext uri="{BB962C8B-B14F-4D97-AF65-F5344CB8AC3E}">
        <p14:creationId xmlns:p14="http://schemas.microsoft.com/office/powerpoint/2010/main" val="2739742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6960-6EB7-5543-D7E2-21C56C333DC6}"/>
              </a:ext>
            </a:extLst>
          </p:cNvPr>
          <p:cNvSpPr>
            <a:spLocks noGrp="1"/>
          </p:cNvSpPr>
          <p:nvPr>
            <p:ph type="title"/>
          </p:nvPr>
        </p:nvSpPr>
        <p:spPr>
          <a:xfrm>
            <a:off x="860892" y="669257"/>
            <a:ext cx="10465073" cy="1132258"/>
          </a:xfrm>
        </p:spPr>
        <p:txBody>
          <a:bodyPr/>
          <a:lstStyle/>
          <a:p>
            <a:r>
              <a:rPr lang="en-US" sz="3600" b="1" dirty="0">
                <a:latin typeface="Times New Roman" panose="02020603050405020304" pitchFamily="18" charset="0"/>
                <a:cs typeface="Times New Roman" panose="02020603050405020304" pitchFamily="18" charset="0"/>
              </a:rPr>
              <a:t>1. </a:t>
            </a:r>
            <a:r>
              <a:rPr lang="en-US" sz="3600" b="1" dirty="0" err="1">
                <a:latin typeface="Times New Roman" panose="02020603050405020304" pitchFamily="18" charset="0"/>
                <a:cs typeface="Times New Roman" panose="02020603050405020304" pitchFamily="18" charset="0"/>
              </a:rPr>
              <a:t>Phân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Yêu</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cầu</a:t>
            </a:r>
            <a:endParaRPr lang="en-US" sz="36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638F87B7-4DCB-308B-6053-DF5BD481C6FB}"/>
              </a:ext>
            </a:extLst>
          </p:cNvPr>
          <p:cNvSpPr/>
          <p:nvPr/>
        </p:nvSpPr>
        <p:spPr>
          <a:xfrm>
            <a:off x="708025" y="1811040"/>
            <a:ext cx="5238750" cy="4191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285750" indent="-285750" algn="just">
              <a:buFont typeface="Times New Roman" panose="02020603050405020304" pitchFamily="18" charset="0"/>
              <a:buChar char="‒"/>
            </a:pPr>
            <a:r>
              <a:rPr lang="vi-VN" dirty="0">
                <a:solidFill>
                  <a:schemeClr val="tx1"/>
                </a:solidFill>
                <a:latin typeface="Times New Roman" panose="02020603050405020304" pitchFamily="18" charset="0"/>
                <a:cs typeface="Times New Roman" panose="02020603050405020304" pitchFamily="18" charset="0"/>
              </a:rPr>
              <a:t>Nhận diện hành vi, vũ khí, khuôn mặt/Unknown và đám đông.</a:t>
            </a:r>
          </a:p>
          <a:p>
            <a:pPr marL="285750" indent="-285750" algn="just">
              <a:buFont typeface="Times New Roman" panose="02020603050405020304" pitchFamily="18" charset="0"/>
              <a:buChar char="‒"/>
            </a:pPr>
            <a:r>
              <a:rPr lang="vi-VN" dirty="0">
                <a:solidFill>
                  <a:schemeClr val="tx1"/>
                </a:solidFill>
                <a:latin typeface="Times New Roman" panose="02020603050405020304" pitchFamily="18" charset="0"/>
                <a:cs typeface="Times New Roman" panose="02020603050405020304" pitchFamily="18" charset="0"/>
              </a:rPr>
              <a:t>Quản lý camera, danh tính, sự kiện và ảnh minh chứng có box.</a:t>
            </a:r>
          </a:p>
          <a:p>
            <a:pPr marL="285750" indent="-285750" algn="just">
              <a:buFont typeface="Times New Roman" panose="02020603050405020304" pitchFamily="18" charset="0"/>
              <a:buChar char="‒"/>
            </a:pPr>
            <a:r>
              <a:rPr lang="vi-VN" dirty="0">
                <a:solidFill>
                  <a:schemeClr val="tx1"/>
                </a:solidFill>
                <a:latin typeface="Times New Roman" panose="02020603050405020304" pitchFamily="18" charset="0"/>
                <a:cs typeface="Times New Roman" panose="02020603050405020304" pitchFamily="18" charset="0"/>
              </a:rPr>
              <a:t>Web/Mobile tiếp nhận cảnh báo và cập nhật trạng thái xử lý.</a:t>
            </a:r>
          </a:p>
          <a:p>
            <a:pPr marL="285750" indent="-285750" algn="just">
              <a:buFont typeface="Times New Roman" panose="02020603050405020304" pitchFamily="18" charset="0"/>
              <a:buChar char="‒"/>
            </a:pPr>
            <a:r>
              <a:rPr lang="vi-VN" dirty="0">
                <a:solidFill>
                  <a:schemeClr val="tx1"/>
                </a:solidFill>
                <a:latin typeface="Times New Roman" panose="02020603050405020304" pitchFamily="18" charset="0"/>
                <a:cs typeface="Times New Roman" panose="02020603050405020304" pitchFamily="18" charset="0"/>
              </a:rPr>
              <a:t>ASA hỗ trợ tra cứu SOP, thống kê và dự thảo báo cáo ca trực.</a:t>
            </a:r>
            <a:endParaRPr lang="en-US" dirty="0">
              <a:solidFill>
                <a:schemeClr val="tx1"/>
              </a:solidFill>
            </a:endParaRPr>
          </a:p>
        </p:txBody>
      </p:sp>
      <p:sp>
        <p:nvSpPr>
          <p:cNvPr id="5" name="Rectangle 4">
            <a:extLst>
              <a:ext uri="{FF2B5EF4-FFF2-40B4-BE49-F238E27FC236}">
                <a16:creationId xmlns:a16="http://schemas.microsoft.com/office/drawing/2014/main" id="{70F061AC-D375-EB01-F89D-729AE0D48721}"/>
              </a:ext>
            </a:extLst>
          </p:cNvPr>
          <p:cNvSpPr/>
          <p:nvPr/>
        </p:nvSpPr>
        <p:spPr>
          <a:xfrm>
            <a:off x="6280150" y="1811040"/>
            <a:ext cx="5238750" cy="4191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285750" indent="-285750" algn="just">
              <a:buFont typeface="Times New Roman" panose="02020603050405020304" pitchFamily="18" charset="0"/>
              <a:buChar char="‒"/>
            </a:pPr>
            <a:r>
              <a:rPr lang="vi-VN" dirty="0">
                <a:solidFill>
                  <a:schemeClr val="tx1"/>
                </a:solidFill>
                <a:latin typeface="Times New Roman" panose="02020603050405020304" pitchFamily="18" charset="0"/>
                <a:cs typeface="Times New Roman" panose="02020603050405020304" pitchFamily="18" charset="0"/>
              </a:rPr>
              <a:t>Hướng tới cảnh báo độ trễ thấp, vận hành ổn định và kiểm soát truy cập.</a:t>
            </a:r>
          </a:p>
          <a:p>
            <a:pPr marL="285750" indent="-285750" algn="just">
              <a:buFont typeface="Times New Roman" panose="02020603050405020304" pitchFamily="18" charset="0"/>
              <a:buChar char="‒"/>
            </a:pPr>
            <a:r>
              <a:rPr lang="vi-VN" dirty="0">
                <a:solidFill>
                  <a:schemeClr val="tx1"/>
                </a:solidFill>
                <a:latin typeface="Times New Roman" panose="02020603050405020304" pitchFamily="18" charset="0"/>
                <a:cs typeface="Times New Roman" panose="02020603050405020304" pitchFamily="18" charset="0"/>
              </a:rPr>
              <a:t>Độ trễ dưới 3 giây và vận hành 24/7 là mục tiêu; chưa có phép đo đầu-cuối hoặc thử nghiệm dài hạn xác nhận.</a:t>
            </a:r>
          </a:p>
          <a:p>
            <a:pPr marL="285750" indent="-285750" algn="just">
              <a:buFont typeface="Times New Roman" panose="02020603050405020304" pitchFamily="18" charset="0"/>
              <a:buChar char="‒"/>
            </a:pPr>
            <a:endParaRPr lang="en-US" dirty="0">
              <a:solidFill>
                <a:schemeClr val="tx1"/>
              </a:solidFill>
            </a:endParaRPr>
          </a:p>
        </p:txBody>
      </p:sp>
      <p:sp>
        <p:nvSpPr>
          <p:cNvPr id="6" name="Rectangle: Rounded Corners 5">
            <a:extLst>
              <a:ext uri="{FF2B5EF4-FFF2-40B4-BE49-F238E27FC236}">
                <a16:creationId xmlns:a16="http://schemas.microsoft.com/office/drawing/2014/main" id="{182DD209-1AFC-89B8-D702-F4A302DB0F58}"/>
              </a:ext>
            </a:extLst>
          </p:cNvPr>
          <p:cNvSpPr/>
          <p:nvPr/>
        </p:nvSpPr>
        <p:spPr>
          <a:xfrm>
            <a:off x="708025" y="1371600"/>
            <a:ext cx="5238750" cy="4299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b="1" dirty="0">
                <a:solidFill>
                  <a:schemeClr val="tx1"/>
                </a:solidFill>
                <a:latin typeface="Times New Roman" panose="02020603050405020304" pitchFamily="18" charset="0"/>
                <a:cs typeface="Times New Roman" panose="02020603050405020304" pitchFamily="18" charset="0"/>
              </a:rPr>
              <a:t>Yêu cầu chức năng</a:t>
            </a:r>
            <a:endParaRPr lang="en-US" b="1" dirty="0">
              <a:solidFill>
                <a:schemeClr val="tx1"/>
              </a:solidFill>
            </a:endParaRPr>
          </a:p>
        </p:txBody>
      </p:sp>
      <p:sp>
        <p:nvSpPr>
          <p:cNvPr id="7" name="Rectangle: Rounded Corners 6">
            <a:extLst>
              <a:ext uri="{FF2B5EF4-FFF2-40B4-BE49-F238E27FC236}">
                <a16:creationId xmlns:a16="http://schemas.microsoft.com/office/drawing/2014/main" id="{B802CA27-63A2-38EC-E13C-192CA34AE079}"/>
              </a:ext>
            </a:extLst>
          </p:cNvPr>
          <p:cNvSpPr/>
          <p:nvPr/>
        </p:nvSpPr>
        <p:spPr>
          <a:xfrm>
            <a:off x="6280149" y="1371600"/>
            <a:ext cx="5238750" cy="4299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b="1" dirty="0">
                <a:solidFill>
                  <a:schemeClr val="tx1"/>
                </a:solidFill>
                <a:latin typeface="Times New Roman" panose="02020603050405020304" pitchFamily="18" charset="0"/>
                <a:cs typeface="Times New Roman" panose="02020603050405020304" pitchFamily="18" charset="0"/>
              </a:rPr>
              <a:t>Yêu cầu phi chức năng</a:t>
            </a:r>
          </a:p>
        </p:txBody>
      </p:sp>
    </p:spTree>
    <p:extLst>
      <p:ext uri="{BB962C8B-B14F-4D97-AF65-F5344CB8AC3E}">
        <p14:creationId xmlns:p14="http://schemas.microsoft.com/office/powerpoint/2010/main" val="2123826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027BD-784B-9CF6-F393-8AA993CA2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7C265-534E-26FB-0AE2-444658412C20}"/>
              </a:ext>
            </a:extLst>
          </p:cNvPr>
          <p:cNvSpPr>
            <a:spLocks noGrp="1"/>
          </p:cNvSpPr>
          <p:nvPr>
            <p:ph type="title"/>
          </p:nvPr>
        </p:nvSpPr>
        <p:spPr>
          <a:xfrm>
            <a:off x="312388" y="1940876"/>
            <a:ext cx="3126137" cy="2976247"/>
          </a:xfrm>
        </p:spPr>
        <p:txBody>
          <a:bodyPr anchor="t">
            <a:normAutofit fontScale="90000"/>
          </a:bodyPr>
          <a:lstStyle/>
          <a:p>
            <a:pPr>
              <a:lnSpc>
                <a:spcPct val="150000"/>
              </a:lnSpc>
            </a:pPr>
            <a:r>
              <a:rPr lang="en-US" sz="3600" b="1" dirty="0">
                <a:latin typeface="Times New Roman" panose="02020603050405020304" pitchFamily="18" charset="0"/>
                <a:cs typeface="Times New Roman" panose="02020603050405020304" pitchFamily="18" charset="0"/>
              </a:rPr>
              <a:t>2. Cơ sở dữ liệu – sơ đồ phiên bản ban đầu</a:t>
            </a:r>
          </a:p>
        </p:txBody>
      </p:sp>
      <p:sp>
        <p:nvSpPr>
          <p:cNvPr id="5" name="Rectangle: Rounded Corners 4">
            <a:extLst>
              <a:ext uri="{FF2B5EF4-FFF2-40B4-BE49-F238E27FC236}">
                <a16:creationId xmlns:a16="http://schemas.microsoft.com/office/drawing/2014/main" id="{37FE9D7F-22BC-314B-3C35-3932C910AABD}"/>
              </a:ext>
            </a:extLst>
          </p:cNvPr>
          <p:cNvSpPr/>
          <p:nvPr/>
        </p:nvSpPr>
        <p:spPr>
          <a:xfrm>
            <a:off x="3644900" y="0"/>
            <a:ext cx="8547100" cy="6858000"/>
          </a:xfrm>
          <a:prstGeom prst="roundRect">
            <a:avLst>
              <a:gd name="adj" fmla="val 2495"/>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034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074B5-7AAE-9914-007F-41FDAE7A0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8B0E7-BD9B-562B-34B3-CE6CE5CEB339}"/>
              </a:ext>
            </a:extLst>
          </p:cNvPr>
          <p:cNvSpPr>
            <a:spLocks noGrp="1"/>
          </p:cNvSpPr>
          <p:nvPr>
            <p:ph type="ctrTitle"/>
          </p:nvPr>
        </p:nvSpPr>
        <p:spPr>
          <a:xfrm>
            <a:off x="859536" y="905256"/>
            <a:ext cx="10094410" cy="660897"/>
          </a:xfrm>
        </p:spPr>
        <p:txBody>
          <a:bodyPr anchor="t">
            <a:normAutofit/>
          </a:bodyPr>
          <a:lstStyle/>
          <a:p>
            <a:r>
              <a:rPr lang="en-US" sz="3600" b="1" dirty="0">
                <a:latin typeface="Times New Roman" panose="02020603050405020304" pitchFamily="18" charset="0"/>
                <a:cs typeface="Times New Roman" panose="02020603050405020304" pitchFamily="18" charset="0"/>
              </a:rPr>
              <a:t>3. Kiến trúc và quy trình hoạt động</a:t>
            </a:r>
          </a:p>
        </p:txBody>
      </p:sp>
      <p:sp>
        <p:nvSpPr>
          <p:cNvPr id="3" name="TextBox 2">
            <a:extLst>
              <a:ext uri="{FF2B5EF4-FFF2-40B4-BE49-F238E27FC236}">
                <a16:creationId xmlns:a16="http://schemas.microsoft.com/office/drawing/2014/main" id="{D2522505-E37E-2919-CBC7-41EF5658F2AD}"/>
              </a:ext>
            </a:extLst>
          </p:cNvPr>
          <p:cNvSpPr txBox="1"/>
          <p:nvPr/>
        </p:nvSpPr>
        <p:spPr>
          <a:xfrm>
            <a:off x="774695" y="2019501"/>
            <a:ext cx="2103342" cy="369332"/>
          </a:xfrm>
          <a:prstGeom prst="rect">
            <a:avLst/>
          </a:prstGeom>
          <a:noFill/>
        </p:spPr>
        <p:txBody>
          <a:bodyPr wrap="square" rtlCol="0">
            <a:spAutoFit/>
          </a:bodyPr>
          <a:lstStyle/>
          <a:p>
            <a:r>
              <a:rPr lang="en-US" b="1" dirty="0" err="1">
                <a:latin typeface="Roboto" panose="02000000000000000000" pitchFamily="2" charset="0"/>
                <a:ea typeface="Roboto" panose="02000000000000000000" pitchFamily="2" charset="0"/>
                <a:cs typeface="Roboto" panose="02000000000000000000" pitchFamily="2" charset="0"/>
              </a:rPr>
              <a:t>Quy trình xử lý</a:t>
            </a:r>
            <a:endParaRPr lang="en-US" b="1" dirty="0">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2445D048-061F-E274-F1C6-AF2C85422E90}"/>
              </a:ext>
            </a:extLst>
          </p:cNvPr>
          <p:cNvSpPr txBox="1"/>
          <p:nvPr/>
        </p:nvSpPr>
        <p:spPr>
          <a:xfrm>
            <a:off x="774695" y="2409687"/>
            <a:ext cx="5395884" cy="2123658"/>
          </a:xfrm>
          <a:prstGeom prst="rect">
            <a:avLst/>
          </a:prstGeom>
          <a:noFill/>
        </p:spPr>
        <p:txBody>
          <a:bodyPr wrap="square" rtlCol="0">
            <a:spAutoFit/>
          </a:bodyPr>
          <a:lstStyle/>
          <a:p>
            <a:pPr>
              <a:lnSpc>
                <a:spcPct val="150000"/>
              </a:lnSpc>
            </a:pPr>
            <a:r>
              <a:rPr lang="vi-VN" dirty="0">
                <a:latin typeface="Roboto" panose="02000000000000000000" pitchFamily="2" charset="0"/>
                <a:ea typeface="Roboto" panose="02000000000000000000" pitchFamily="2" charset="0"/>
                <a:cs typeface="Roboto" panose="02000000000000000000" pitchFamily="2" charset="0"/>
              </a:rPr>
              <a:t>1. Thu nhận khung hình từ camera hoặc video.</a:t>
            </a:r>
          </a:p>
          <a:p>
            <a:pPr>
              <a:lnSpc>
                <a:spcPct val="150000"/>
              </a:lnSpc>
            </a:pPr>
            <a:r>
              <a:rPr lang="vi-VN" dirty="0">
                <a:latin typeface="Roboto" panose="02000000000000000000" pitchFamily="2" charset="0"/>
                <a:ea typeface="Roboto" panose="02000000000000000000" pitchFamily="2" charset="0"/>
                <a:cs typeface="Roboto" panose="02000000000000000000" pitchFamily="2" charset="0"/>
              </a:rPr>
              <a:t>2. Chạy mô hình theo chức năng camera.</a:t>
            </a:r>
          </a:p>
          <a:p>
            <a:pPr>
              <a:lnSpc>
                <a:spcPct val="150000"/>
              </a:lnSpc>
            </a:pPr>
            <a:r>
              <a:rPr lang="vi-VN" dirty="0">
                <a:latin typeface="Roboto" panose="02000000000000000000" pitchFamily="2" charset="0"/>
                <a:ea typeface="Roboto" panose="02000000000000000000" pitchFamily="2" charset="0"/>
                <a:cs typeface="Roboto" panose="02000000000000000000" pitchFamily="2" charset="0"/>
              </a:rPr>
              <a:t>3. Event Engine xác nhận và chống ghi trùng.</a:t>
            </a:r>
          </a:p>
          <a:p>
            <a:pPr>
              <a:lnSpc>
                <a:spcPct val="150000"/>
              </a:lnSpc>
            </a:pPr>
            <a:r>
              <a:rPr lang="vi-VN" dirty="0">
                <a:latin typeface="Roboto" panose="02000000000000000000" pitchFamily="2" charset="0"/>
                <a:ea typeface="Roboto" panose="02000000000000000000" pitchFamily="2" charset="0"/>
                <a:cs typeface="Roboto" panose="02000000000000000000" pitchFamily="2" charset="0"/>
              </a:rPr>
              <a:t>4. Lưu sự kiện, ảnh có box; gửi cảnh báo.</a:t>
            </a:r>
          </a:p>
          <a:p>
            <a:pPr>
              <a:lnSpc>
                <a:spcPct val="150000"/>
              </a:lnSpc>
            </a:pPr>
            <a:r>
              <a:rPr lang="vi-VN" dirty="0">
                <a:latin typeface="Roboto" panose="02000000000000000000" pitchFamily="2" charset="0"/>
                <a:ea typeface="Roboto" panose="02000000000000000000" pitchFamily="2" charset="0"/>
                <a:cs typeface="Roboto" panose="02000000000000000000" pitchFamily="2" charset="0"/>
              </a:rPr>
              <a:t>5. Nhân viên xác minh và cập nhật xử lý.</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2CE3FBC1-6074-2D6C-A704-12DDB7CB5B20}"/>
              </a:ext>
            </a:extLst>
          </p:cNvPr>
          <p:cNvSpPr txBox="1"/>
          <p:nvPr/>
        </p:nvSpPr>
        <p:spPr>
          <a:xfrm>
            <a:off x="6116879" y="1994636"/>
            <a:ext cx="1396536" cy="369332"/>
          </a:xfrm>
          <a:prstGeom prst="rect">
            <a:avLst/>
          </a:prstGeom>
          <a:noFill/>
        </p:spPr>
        <p:txBody>
          <a:bodyPr wrap="none" rtlCol="0">
            <a:spAutoFit/>
          </a:bodyPr>
          <a:lstStyle/>
          <a:p>
            <a:r>
              <a:rPr lang="en-US" b="1" dirty="0">
                <a:latin typeface="Roboto" panose="02000000000000000000" pitchFamily="2" charset="0"/>
                <a:ea typeface="Roboto" panose="02000000000000000000" pitchFamily="2" charset="0"/>
                <a:cs typeface="Roboto" panose="02000000000000000000" pitchFamily="2" charset="0"/>
              </a:rPr>
              <a:t>Các lớp hệ thống</a:t>
            </a:r>
          </a:p>
        </p:txBody>
      </p:sp>
      <p:sp>
        <p:nvSpPr>
          <p:cNvPr id="6" name="TextBox 5">
            <a:extLst>
              <a:ext uri="{FF2B5EF4-FFF2-40B4-BE49-F238E27FC236}">
                <a16:creationId xmlns:a16="http://schemas.microsoft.com/office/drawing/2014/main" id="{0D16B3D7-CF69-F2AE-BC3E-24D03BBDE4EB}"/>
              </a:ext>
            </a:extLst>
          </p:cNvPr>
          <p:cNvSpPr txBox="1"/>
          <p:nvPr/>
        </p:nvSpPr>
        <p:spPr>
          <a:xfrm>
            <a:off x="6096000" y="2409687"/>
            <a:ext cx="5395884" cy="2577295"/>
          </a:xfrm>
          <a:prstGeom prst="rect">
            <a:avLst/>
          </a:prstGeom>
          <a:noFill/>
        </p:spPr>
        <p:txBody>
          <a:bodyPr wrap="square" rtlCol="0">
            <a:spAutoFit/>
          </a:bodyPr>
          <a:lstStyle/>
          <a:p>
            <a:pPr marL="285750" indent="-285750">
              <a:lnSpc>
                <a:spcPct val="150000"/>
              </a:lnSpc>
              <a:buFont typeface="Times New Roman" panose="02020603050405020304" pitchFamily="18" charset="0"/>
              <a:buChar char="‒"/>
            </a:pPr>
            <a:r>
              <a:rPr lang="vi-VN" dirty="0">
                <a:latin typeface="Roboto" panose="02000000000000000000" pitchFamily="2" charset="0"/>
                <a:ea typeface="Roboto" panose="02000000000000000000" pitchFamily="2" charset="0"/>
                <a:cs typeface="Roboto" panose="02000000000000000000" pitchFamily="2" charset="0"/>
              </a:rPr>
              <a:t>Giao diện: Web HTML/CSS/JS; Mobile React Native/Expo.</a:t>
            </a:r>
          </a:p>
          <a:p>
            <a:pPr marL="285750" indent="-285750">
              <a:lnSpc>
                <a:spcPct val="150000"/>
              </a:lnSpc>
              <a:buFont typeface="Times New Roman" panose="02020603050405020304" pitchFamily="18" charset="0"/>
              <a:buChar char="‒"/>
            </a:pPr>
            <a:r>
              <a:rPr lang="en-US" dirty="0">
                <a:latin typeface="Roboto" panose="02000000000000000000" pitchFamily="2" charset="0"/>
                <a:ea typeface="Roboto" panose="02000000000000000000" pitchFamily="2" charset="0"/>
                <a:cs typeface="Roboto" panose="02000000000000000000" pitchFamily="2" charset="0"/>
              </a:rPr>
              <a:t>Xử lý: Python/Flask, AI, Event Engine và ASA; REST API/Socket.IO.</a:t>
            </a:r>
            <a:endParaRPr lang="vi-VN" dirty="0">
              <a:latin typeface="Roboto" panose="02000000000000000000" pitchFamily="2" charset="0"/>
              <a:ea typeface="Roboto" panose="02000000000000000000" pitchFamily="2" charset="0"/>
              <a:cs typeface="Roboto" panose="02000000000000000000" pitchFamily="2" charset="0"/>
            </a:endParaRPr>
          </a:p>
          <a:p>
            <a:pPr marL="285750" indent="-285750">
              <a:lnSpc>
                <a:spcPct val="150000"/>
              </a:lnSpc>
              <a:buFont typeface="Times New Roman" panose="02020603050405020304" pitchFamily="18" charset="0"/>
              <a:buChar char="‒"/>
            </a:pPr>
            <a:r>
              <a:rPr lang="vi-VN" dirty="0">
                <a:latin typeface="Roboto" panose="02000000000000000000" pitchFamily="2" charset="0"/>
                <a:ea typeface="Roboto" panose="02000000000000000000" pitchFamily="2" charset="0"/>
                <a:cs typeface="Roboto" panose="02000000000000000000" pitchFamily="2" charset="0"/>
              </a:rPr>
              <a:t>Dữ liệu: SQL Server và tệp ảnh minh chứng trên máy chủ.</a:t>
            </a:r>
          </a:p>
        </p:txBody>
      </p:sp>
      <p:sp>
        <p:nvSpPr>
          <p:cNvPr id="10" name="Shape 2">
            <a:extLst>
              <a:ext uri="{FF2B5EF4-FFF2-40B4-BE49-F238E27FC236}">
                <a16:creationId xmlns:a16="http://schemas.microsoft.com/office/drawing/2014/main" id="{4417F652-5228-09EB-4CE3-8AD82720CD91}"/>
              </a:ext>
            </a:extLst>
          </p:cNvPr>
          <p:cNvSpPr/>
          <p:nvPr/>
        </p:nvSpPr>
        <p:spPr>
          <a:xfrm flipV="1">
            <a:off x="941811" y="2363968"/>
            <a:ext cx="1289135" cy="45719"/>
          </a:xfrm>
          <a:prstGeom prst="rect">
            <a:avLst/>
          </a:prstGeom>
          <a:solidFill>
            <a:srgbClr val="FF0E0E"/>
          </a:solidFill>
          <a:ln/>
        </p:spPr>
        <p:txBody>
          <a:bodyPr/>
          <a:lstStyle/>
          <a:p>
            <a:pPr algn="just"/>
            <a:endParaRPr lang="vi-VN"/>
          </a:p>
        </p:txBody>
      </p:sp>
      <p:sp>
        <p:nvSpPr>
          <p:cNvPr id="11" name="Shape 6">
            <a:extLst>
              <a:ext uri="{FF2B5EF4-FFF2-40B4-BE49-F238E27FC236}">
                <a16:creationId xmlns:a16="http://schemas.microsoft.com/office/drawing/2014/main" id="{015F1032-466C-5D1F-BAD4-6E5D37BDC418}"/>
              </a:ext>
            </a:extLst>
          </p:cNvPr>
          <p:cNvSpPr/>
          <p:nvPr/>
        </p:nvSpPr>
        <p:spPr>
          <a:xfrm flipV="1">
            <a:off x="6385320" y="2386827"/>
            <a:ext cx="1417295" cy="45719"/>
          </a:xfrm>
          <a:prstGeom prst="rect">
            <a:avLst/>
          </a:prstGeom>
          <a:solidFill>
            <a:srgbClr val="FF0E0E"/>
          </a:solidFill>
          <a:ln/>
        </p:spPr>
        <p:txBody>
          <a:bodyPr/>
          <a:lstStyle/>
          <a:p>
            <a:pPr algn="just"/>
            <a:endParaRPr lang="vi-VN"/>
          </a:p>
        </p:txBody>
      </p:sp>
    </p:spTree>
    <p:extLst>
      <p:ext uri="{BB962C8B-B14F-4D97-AF65-F5344CB8AC3E}">
        <p14:creationId xmlns:p14="http://schemas.microsoft.com/office/powerpoint/2010/main" val="1231412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FEB8CF-9E22-6779-27CB-25347B9558FE}"/>
              </a:ext>
            </a:extLst>
          </p:cNvPr>
          <p:cNvSpPr>
            <a:spLocks noGrp="1"/>
          </p:cNvSpPr>
          <p:nvPr>
            <p:ph sz="quarter" idx="13"/>
          </p:nvPr>
        </p:nvSpPr>
        <p:spPr>
          <a:xfrm>
            <a:off x="2024273" y="1570948"/>
            <a:ext cx="9303937" cy="2174966"/>
          </a:xfrm>
        </p:spPr>
        <p:txBody>
          <a:bodyPr>
            <a:noAutofit/>
          </a:bodyPr>
          <a:lstStyle/>
          <a:p>
            <a:r>
              <a:rPr lang="vi-VN" sz="5400" b="1" dirty="0">
                <a:latin typeface="Roboto" panose="02000000000000000000" pitchFamily="2" charset="0"/>
                <a:ea typeface="Roboto" panose="02000000000000000000" pitchFamily="2" charset="0"/>
                <a:cs typeface="Roboto" panose="02000000000000000000" pitchFamily="2" charset="0"/>
              </a:rPr>
              <a:t>Kết quả và thực nghiệm</a:t>
            </a:r>
            <a:endParaRPr lang="en-US" sz="5400" b="1" dirty="0">
              <a:latin typeface="Roboto" panose="02000000000000000000" pitchFamily="2" charset="0"/>
              <a:ea typeface="Roboto" panose="02000000000000000000" pitchFamily="2" charset="0"/>
              <a:cs typeface="Roboto" panose="02000000000000000000" pitchFamily="2" charset="0"/>
            </a:endParaRPr>
          </a:p>
        </p:txBody>
      </p:sp>
      <p:sp>
        <p:nvSpPr>
          <p:cNvPr id="2" name="Freeform 12">
            <a:extLst>
              <a:ext uri="{FF2B5EF4-FFF2-40B4-BE49-F238E27FC236}">
                <a16:creationId xmlns:a16="http://schemas.microsoft.com/office/drawing/2014/main" id="{23F91BC4-F9C8-D4E4-2FC3-49169E49EBDD}"/>
              </a:ext>
            </a:extLst>
          </p:cNvPr>
          <p:cNvSpPr/>
          <p:nvPr/>
        </p:nvSpPr>
        <p:spPr>
          <a:xfrm>
            <a:off x="9376229" y="-169666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12">
            <a:extLst>
              <a:ext uri="{FF2B5EF4-FFF2-40B4-BE49-F238E27FC236}">
                <a16:creationId xmlns:a16="http://schemas.microsoft.com/office/drawing/2014/main" id="{E4F18823-17AE-673C-E6B7-8A2F0F7FC258}"/>
              </a:ext>
            </a:extLst>
          </p:cNvPr>
          <p:cNvSpPr/>
          <p:nvPr/>
        </p:nvSpPr>
        <p:spPr>
          <a:xfrm rot="13287298">
            <a:off x="-4391831" y="415290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extLst>
      <p:ext uri="{BB962C8B-B14F-4D97-AF65-F5344CB8AC3E}">
        <p14:creationId xmlns:p14="http://schemas.microsoft.com/office/powerpoint/2010/main" val="272877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A732-7F9E-E4BC-A57F-98FCF36FA69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3ADD9EF-0B86-3E6D-E47D-E86FBCBC51F9}"/>
              </a:ext>
            </a:extLst>
          </p:cNvPr>
          <p:cNvSpPr>
            <a:spLocks noGrp="1"/>
          </p:cNvSpPr>
          <p:nvPr>
            <p:ph type="title"/>
          </p:nvPr>
        </p:nvSpPr>
        <p:spPr>
          <a:xfrm>
            <a:off x="622173" y="367665"/>
            <a:ext cx="10653578" cy="1132258"/>
          </a:xfrm>
        </p:spPr>
        <p:txBody>
          <a:bodyPr anchor="ctr">
            <a:normAutofit/>
          </a:bodyPr>
          <a:lstStyle/>
          <a:p>
            <a:r>
              <a:rPr lang="vi-VN" sz="2800" b="1" dirty="0">
                <a:latin typeface="Times New Roman" panose="02020603050405020304" pitchFamily="18" charset="0"/>
                <a:cs typeface="Times New Roman" panose="02020603050405020304" pitchFamily="18" charset="0"/>
              </a:rPr>
              <a:t>1. Giao diện Web dành cho quản trị viên</a:t>
            </a:r>
            <a:endParaRPr lang="en-US" sz="28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A9EAA2D-2A38-4B51-4A16-F4ECAB22431B}"/>
              </a:ext>
            </a:extLst>
          </p:cNvPr>
          <p:cNvSpPr/>
          <p:nvPr/>
        </p:nvSpPr>
        <p:spPr>
          <a:xfrm>
            <a:off x="679257" y="1302330"/>
            <a:ext cx="5349486" cy="2445983"/>
          </a:xfrm>
          <a:prstGeom prst="rect">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FEEAAFD-A726-4D66-57EA-0377BE6D0991}"/>
              </a:ext>
            </a:extLst>
          </p:cNvPr>
          <p:cNvSpPr/>
          <p:nvPr/>
        </p:nvSpPr>
        <p:spPr>
          <a:xfrm>
            <a:off x="679256" y="3856776"/>
            <a:ext cx="5349486" cy="2445983"/>
          </a:xfrm>
          <a:prstGeom prst="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3264FD-A486-23F2-7BED-C9A001D30FEA}"/>
              </a:ext>
            </a:extLst>
          </p:cNvPr>
          <p:cNvSpPr/>
          <p:nvPr/>
        </p:nvSpPr>
        <p:spPr>
          <a:xfrm>
            <a:off x="6159372" y="1302330"/>
            <a:ext cx="5349486" cy="2445983"/>
          </a:xfrm>
          <a:prstGeom prst="rect">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FFC32D6-BF0F-6285-BD27-6A6D2B1901DC}"/>
              </a:ext>
            </a:extLst>
          </p:cNvPr>
          <p:cNvSpPr/>
          <p:nvPr/>
        </p:nvSpPr>
        <p:spPr>
          <a:xfrm>
            <a:off x="6159371" y="3856776"/>
            <a:ext cx="5349486" cy="2445983"/>
          </a:xfrm>
          <a:prstGeom prst="rect">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1484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75E60-38C4-DBDA-8D28-2776EF2D822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ECABC80-3AC3-C392-10BC-62C72B2D8645}"/>
              </a:ext>
            </a:extLst>
          </p:cNvPr>
          <p:cNvSpPr>
            <a:spLocks noGrp="1"/>
          </p:cNvSpPr>
          <p:nvPr>
            <p:ph type="title"/>
          </p:nvPr>
        </p:nvSpPr>
        <p:spPr>
          <a:xfrm>
            <a:off x="622173" y="367665"/>
            <a:ext cx="10653578" cy="1132258"/>
          </a:xfrm>
        </p:spPr>
        <p:txBody>
          <a:bodyPr anchor="ctr">
            <a:normAutofit/>
          </a:bodyPr>
          <a:lstStyle/>
          <a:p>
            <a:r>
              <a:rPr lang="vi-VN" sz="2800" b="1" dirty="0">
                <a:latin typeface="Times New Roman" panose="02020603050405020304" pitchFamily="18" charset="0"/>
                <a:cs typeface="Times New Roman" panose="02020603050405020304" pitchFamily="18" charset="0"/>
              </a:rPr>
              <a:t>2</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Tính năng nhận diện hành vi và gửi thông báo</a:t>
            </a:r>
            <a:endParaRPr lang="en-US"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3895A2D-5E2C-F398-029C-7DEACD6C3E6D}"/>
              </a:ext>
            </a:extLst>
          </p:cNvPr>
          <p:cNvPicPr>
            <a:picLocks noChangeAspect="1"/>
          </p:cNvPicPr>
          <p:nvPr/>
        </p:nvPicPr>
        <p:blipFill>
          <a:blip r:embed="rId2"/>
          <a:stretch>
            <a:fillRect/>
          </a:stretch>
        </p:blipFill>
        <p:spPr>
          <a:xfrm>
            <a:off x="698294" y="1204861"/>
            <a:ext cx="10795412" cy="5156710"/>
          </a:xfrm>
          <a:prstGeom prst="rect">
            <a:avLst/>
          </a:prstGeom>
        </p:spPr>
      </p:pic>
    </p:spTree>
    <p:extLst>
      <p:ext uri="{BB962C8B-B14F-4D97-AF65-F5344CB8AC3E}">
        <p14:creationId xmlns:p14="http://schemas.microsoft.com/office/powerpoint/2010/main" val="359364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31446-AFE8-F059-5142-842EF140066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F7F7BA5-C87E-9F60-E3F4-C6F6DA8EAAAB}"/>
              </a:ext>
            </a:extLst>
          </p:cNvPr>
          <p:cNvSpPr>
            <a:spLocks noGrp="1"/>
          </p:cNvSpPr>
          <p:nvPr>
            <p:ph type="title"/>
          </p:nvPr>
        </p:nvSpPr>
        <p:spPr>
          <a:xfrm>
            <a:off x="612648" y="548640"/>
            <a:ext cx="10653578" cy="1132258"/>
          </a:xfrm>
        </p:spPr>
        <p:txBody>
          <a:bodyPr anchor="t">
            <a:normAutofit/>
          </a:bodyPr>
          <a:lstStyle/>
          <a:p>
            <a:r>
              <a:rPr lang="vi-VN" sz="2800" b="1" dirty="0"/>
              <a:t>3. Báo cáo ca trực với trợ lý AI</a:t>
            </a:r>
            <a:endParaRPr lang="en-US" sz="2800" dirty="0"/>
          </a:p>
        </p:txBody>
      </p:sp>
      <p:pic>
        <p:nvPicPr>
          <p:cNvPr id="4" name="Picture 3">
            <a:extLst>
              <a:ext uri="{FF2B5EF4-FFF2-40B4-BE49-F238E27FC236}">
                <a16:creationId xmlns:a16="http://schemas.microsoft.com/office/drawing/2014/main" id="{16EE3BCD-ADAC-4199-DDA7-025BC15A3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 y="1132085"/>
            <a:ext cx="10966704" cy="5236601"/>
          </a:xfrm>
          <a:prstGeom prst="rect">
            <a:avLst/>
          </a:prstGeom>
          <a:noFill/>
        </p:spPr>
      </p:pic>
    </p:spTree>
    <p:extLst>
      <p:ext uri="{BB962C8B-B14F-4D97-AF65-F5344CB8AC3E}">
        <p14:creationId xmlns:p14="http://schemas.microsoft.com/office/powerpoint/2010/main" val="1076086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2C6A0-A9A2-7DB5-A0A6-86B3DB057F59}"/>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56B60E38-72F2-7CA1-C787-F90886530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3449" y="1499924"/>
            <a:ext cx="2229528" cy="4825260"/>
          </a:xfrm>
          <a:prstGeom prst="rect">
            <a:avLst/>
          </a:prstGeom>
        </p:spPr>
      </p:pic>
      <p:sp>
        <p:nvSpPr>
          <p:cNvPr id="6" name="Title 1">
            <a:extLst>
              <a:ext uri="{FF2B5EF4-FFF2-40B4-BE49-F238E27FC236}">
                <a16:creationId xmlns:a16="http://schemas.microsoft.com/office/drawing/2014/main" id="{138B9489-231E-1C13-A500-CDC7590E4633}"/>
              </a:ext>
            </a:extLst>
          </p:cNvPr>
          <p:cNvSpPr txBox="1">
            <a:spLocks/>
          </p:cNvSpPr>
          <p:nvPr/>
        </p:nvSpPr>
        <p:spPr>
          <a:xfrm>
            <a:off x="622173" y="367665"/>
            <a:ext cx="10653578" cy="113225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a:lstStyle>
          <a:p>
            <a:r>
              <a:rPr lang="vi-VN" sz="2800" b="1" dirty="0">
                <a:latin typeface="Times New Roman" panose="02020603050405020304" pitchFamily="18" charset="0"/>
                <a:cs typeface="Times New Roman" panose="02020603050405020304" pitchFamily="18" charset="0"/>
              </a:rPr>
              <a:t>4. Ứng dụng Mobile dành cho nhân viên an ninh</a:t>
            </a:r>
            <a:endParaRPr lang="en-US" sz="28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1B95C5D-0604-6DCC-7415-A73C4817C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4209" y="1499923"/>
            <a:ext cx="2266387" cy="4825261"/>
          </a:xfrm>
          <a:prstGeom prst="rect">
            <a:avLst/>
          </a:prstGeom>
        </p:spPr>
      </p:pic>
      <p:pic>
        <p:nvPicPr>
          <p:cNvPr id="7" name="Picture 6">
            <a:extLst>
              <a:ext uri="{FF2B5EF4-FFF2-40B4-BE49-F238E27FC236}">
                <a16:creationId xmlns:a16="http://schemas.microsoft.com/office/drawing/2014/main" id="{8FA37D3A-5D70-74E1-5D73-7F98A5C736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1829" y="1499923"/>
            <a:ext cx="2266387" cy="4841084"/>
          </a:xfrm>
          <a:prstGeom prst="rect">
            <a:avLst/>
          </a:prstGeom>
        </p:spPr>
      </p:pic>
    </p:spTree>
    <p:extLst>
      <p:ext uri="{BB962C8B-B14F-4D97-AF65-F5344CB8AC3E}">
        <p14:creationId xmlns:p14="http://schemas.microsoft.com/office/powerpoint/2010/main" val="1558683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B41D1-7CBE-6691-CBE0-1CA8BE119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C54A4-0B05-486D-3C62-C2303BF75ED0}"/>
              </a:ext>
            </a:extLst>
          </p:cNvPr>
          <p:cNvSpPr>
            <a:spLocks noGrp="1"/>
          </p:cNvSpPr>
          <p:nvPr>
            <p:ph type="title"/>
          </p:nvPr>
        </p:nvSpPr>
        <p:spPr>
          <a:xfrm>
            <a:off x="622173" y="367665"/>
            <a:ext cx="10653578" cy="1132258"/>
          </a:xfrm>
        </p:spPr>
        <p:txBody>
          <a:bodyPr anchor="ctr">
            <a:normAutofit/>
          </a:bodyPr>
          <a:lstStyle/>
          <a:p>
            <a:r>
              <a:rPr lang="vi-VN" sz="2800" b="1" dirty="0">
                <a:latin typeface="Times New Roman" panose="02020603050405020304" pitchFamily="18" charset="0"/>
                <a:cs typeface="Times New Roman" panose="02020603050405020304" pitchFamily="18" charset="0"/>
              </a:rPr>
              <a:t>5. Tiếp nhận cảnh báo và tra cứu trợ lý ASA</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27A6BFA-2BA7-E47E-75E9-1CCF468615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4098" y="1329305"/>
            <a:ext cx="2266387" cy="4975464"/>
          </a:xfrm>
          <a:prstGeom prst="rect">
            <a:avLst/>
          </a:prstGeom>
        </p:spPr>
      </p:pic>
      <p:pic>
        <p:nvPicPr>
          <p:cNvPr id="4" name="Picture 3">
            <a:extLst>
              <a:ext uri="{FF2B5EF4-FFF2-40B4-BE49-F238E27FC236}">
                <a16:creationId xmlns:a16="http://schemas.microsoft.com/office/drawing/2014/main" id="{842446D2-7A4A-06D6-6238-FF343701FE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1236" y="1329305"/>
            <a:ext cx="2229528" cy="4975464"/>
          </a:xfrm>
          <a:prstGeom prst="rect">
            <a:avLst/>
          </a:prstGeom>
        </p:spPr>
      </p:pic>
      <p:pic>
        <p:nvPicPr>
          <p:cNvPr id="5" name="Picture 4">
            <a:extLst>
              <a:ext uri="{FF2B5EF4-FFF2-40B4-BE49-F238E27FC236}">
                <a16:creationId xmlns:a16="http://schemas.microsoft.com/office/drawing/2014/main" id="{2952A4D8-6DA6-1C8D-E827-7D3242CC1FF7}"/>
              </a:ext>
            </a:extLst>
          </p:cNvPr>
          <p:cNvPicPr>
            <a:picLocks noChangeAspect="1"/>
          </p:cNvPicPr>
          <p:nvPr/>
        </p:nvPicPr>
        <p:blipFill>
          <a:blip r:embed="rId5"/>
          <a:stretch>
            <a:fillRect/>
          </a:stretch>
        </p:blipFill>
        <p:spPr>
          <a:xfrm>
            <a:off x="1368972" y="1329305"/>
            <a:ext cx="2298931" cy="4975464"/>
          </a:xfrm>
          <a:prstGeom prst="rect">
            <a:avLst/>
          </a:prstGeom>
        </p:spPr>
      </p:pic>
    </p:spTree>
    <p:extLst>
      <p:ext uri="{BB962C8B-B14F-4D97-AF65-F5344CB8AC3E}">
        <p14:creationId xmlns:p14="http://schemas.microsoft.com/office/powerpoint/2010/main" val="4161189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4"/>
          <p:cNvSpPr/>
          <p:nvPr/>
        </p:nvSpPr>
        <p:spPr>
          <a:xfrm rot="13710665">
            <a:off x="11775842" y="-367259"/>
            <a:ext cx="508335" cy="1087210"/>
          </a:xfrm>
          <a:custGeom>
            <a:avLst/>
            <a:gdLst/>
            <a:ahLst/>
            <a:cxnLst/>
            <a:rect l="l" t="t" r="r" b="b"/>
            <a:pathLst>
              <a:path w="762503" h="1630815">
                <a:moveTo>
                  <a:pt x="0" y="0"/>
                </a:moveTo>
                <a:lnTo>
                  <a:pt x="762503" y="0"/>
                </a:lnTo>
                <a:lnTo>
                  <a:pt x="762503" y="1630815"/>
                </a:lnTo>
                <a:lnTo>
                  <a:pt x="0" y="1630815"/>
                </a:lnTo>
                <a:lnTo>
                  <a:pt x="0" y="0"/>
                </a:lnTo>
                <a:close/>
              </a:path>
            </a:pathLst>
          </a:custGeom>
          <a:blipFill>
            <a:blip>
              <a:extLst>
                <a:ext uri="{96DAC541-7B7A-43D3-8B79-37D633B846F1}">
                  <asvg:svgBlip xmlns:asvg="http://schemas.microsoft.com/office/drawing/2016/SVG/main" r:embed="rId2"/>
                </a:ext>
              </a:extLst>
            </a:blip>
            <a:stretch>
              <a:fillRect b="-23452"/>
            </a:stretch>
          </a:blipFill>
        </p:spPr>
        <p:txBody>
          <a:bodyPr/>
          <a:lstStyle/>
          <a:p>
            <a:endParaRPr lang="en-US" sz="1200"/>
          </a:p>
        </p:txBody>
      </p:sp>
      <p:graphicFrame>
        <p:nvGraphicFramePr>
          <p:cNvPr id="2" name="Table 1">
            <a:extLst>
              <a:ext uri="{FF2B5EF4-FFF2-40B4-BE49-F238E27FC236}">
                <a16:creationId xmlns:a16="http://schemas.microsoft.com/office/drawing/2014/main" id="{9E88B81F-CA9A-4D30-A85E-F105935DB849}"/>
              </a:ext>
            </a:extLst>
          </p:cNvPr>
          <p:cNvGraphicFramePr>
            <a:graphicFrameLocks noGrp="1"/>
          </p:cNvGraphicFramePr>
          <p:nvPr>
            <p:extLst>
              <p:ext uri="{D42A27DB-BD31-4B8C-83A1-F6EECF244321}">
                <p14:modId xmlns:p14="http://schemas.microsoft.com/office/powerpoint/2010/main" val="4151070128"/>
              </p:ext>
            </p:extLst>
          </p:nvPr>
        </p:nvGraphicFramePr>
        <p:xfrm>
          <a:off x="762000" y="1349408"/>
          <a:ext cx="10668000" cy="4414815"/>
        </p:xfrm>
        <a:graphic>
          <a:graphicData uri="http://schemas.openxmlformats.org/drawingml/2006/table">
            <a:tbl>
              <a:tblPr firstRow="1" firstCol="1" bandRow="1">
                <a:tableStyleId>{5940675A-B579-460E-94D1-54222C63F5DA}</a:tableStyleId>
              </a:tblPr>
              <a:tblGrid>
                <a:gridCol w="2292285">
                  <a:extLst>
                    <a:ext uri="{9D8B030D-6E8A-4147-A177-3AD203B41FA5}">
                      <a16:colId xmlns:a16="http://schemas.microsoft.com/office/drawing/2014/main" val="1246401286"/>
                    </a:ext>
                  </a:extLst>
                </a:gridCol>
                <a:gridCol w="3549715">
                  <a:extLst>
                    <a:ext uri="{9D8B030D-6E8A-4147-A177-3AD203B41FA5}">
                      <a16:colId xmlns:a16="http://schemas.microsoft.com/office/drawing/2014/main" val="2522424588"/>
                    </a:ext>
                  </a:extLst>
                </a:gridCol>
                <a:gridCol w="4826000">
                  <a:extLst>
                    <a:ext uri="{9D8B030D-6E8A-4147-A177-3AD203B41FA5}">
                      <a16:colId xmlns:a16="http://schemas.microsoft.com/office/drawing/2014/main" val="595474863"/>
                    </a:ext>
                  </a:extLst>
                </a:gridCol>
              </a:tblGrid>
              <a:tr h="475447">
                <a:tc>
                  <a:txBody>
                    <a:bodyPr/>
                    <a:lstStyle/>
                    <a:p>
                      <a:pPr algn="ctr"/>
                      <a:r>
                        <a:rPr sz="1400">
                          <a:latin typeface="Roboto" panose="02000000000000000000" pitchFamily="2" charset="0"/>
                          <a:ea typeface="Roboto" panose="02000000000000000000" pitchFamily="2" charset="0"/>
                          <a:cs typeface="Roboto" panose="02000000000000000000" pitchFamily="2" charset="0"/>
                        </a:rPr>
                        <a:t>Tác vụ / phép đo</a:t>
                      </a:r>
                    </a:p>
                  </a:txBody>
                  <a:tcPr marL="60960" marR="60960" marT="30480" marB="30480" anchor="ctr"/>
                </a:tc>
                <a:tc>
                  <a:txBody>
                    <a:bodyPr/>
                    <a:lstStyle/>
                    <a:p>
                      <a:pPr algn="ctr"/>
                      <a:r>
                        <a:rPr sz="1400">
                          <a:latin typeface="Roboto" panose="02000000000000000000" pitchFamily="2" charset="0"/>
                          <a:ea typeface="Roboto" panose="02000000000000000000" pitchFamily="2" charset="0"/>
                          <a:cs typeface="Roboto" panose="02000000000000000000" pitchFamily="2" charset="0"/>
                        </a:rPr>
                        <a:t>Kết quả</a:t>
                      </a:r>
                    </a:p>
                  </a:txBody>
                  <a:tcPr marL="60960" marR="60960" marT="30480" marB="30480" anchor="ctr"/>
                </a:tc>
                <a:tc>
                  <a:txBody>
                    <a:bodyPr/>
                    <a:lstStyle/>
                    <a:p>
                      <a:pPr algn="ctr"/>
                      <a:r>
                        <a:rPr sz="1400">
                          <a:latin typeface="Roboto" panose="02000000000000000000" pitchFamily="2" charset="0"/>
                          <a:ea typeface="Roboto" panose="02000000000000000000" pitchFamily="2" charset="0"/>
                          <a:cs typeface="Roboto" panose="02000000000000000000" pitchFamily="2" charset="0"/>
                        </a:rPr>
                        <a:t>Nguồn và phạm vi</a:t>
                      </a:r>
                    </a:p>
                  </a:txBody>
                  <a:tcPr marL="60960" marR="60960" marT="30480" marB="30480" anchor="ctr"/>
                </a:tc>
                <a:extLst>
                  <a:ext uri="{0D108BD9-81ED-4DB2-BD59-A6C34878D82A}">
                    <a16:rowId xmlns:a16="http://schemas.microsoft.com/office/drawing/2014/main" val="4170923900"/>
                  </a:ext>
                </a:extLst>
              </a:tr>
              <a:tr h="509912">
                <a:tc>
                  <a:txBody>
                    <a:bodyPr/>
                    <a:lstStyle/>
                    <a:p>
                      <a:pPr algn="ctr"/>
                      <a:r>
                        <a:rPr sz="1400">
                          <a:latin typeface="Roboto" panose="02000000000000000000" pitchFamily="2" charset="0"/>
                          <a:ea typeface="Roboto" panose="02000000000000000000" pitchFamily="2" charset="0"/>
                          <a:cs typeface="Roboto" panose="02000000000000000000" pitchFamily="2" charset="0"/>
                        </a:rPr>
                        <a:t>Hành vi – YOLOv8</a:t>
                      </a:r>
                    </a:p>
                  </a:txBody>
                  <a:tcPr marL="60960" marR="60960" marT="30480" marB="30480" anchor="ctr"/>
                </a:tc>
                <a:tc>
                  <a:txBody>
                    <a:bodyPr/>
                    <a:lstStyle/>
                    <a:p>
                      <a:pPr algn="l"/>
                      <a:r>
                        <a:rPr sz="1400" dirty="0">
                          <a:latin typeface="Roboto" panose="02000000000000000000" pitchFamily="2" charset="0"/>
                          <a:ea typeface="Roboto" panose="02000000000000000000" pitchFamily="2" charset="0"/>
                          <a:cs typeface="Roboto" panose="02000000000000000000" pitchFamily="2" charset="0"/>
                        </a:rPr>
                        <a:t>P: 89,76%; R: 91,20%</a:t>
                      </a:r>
                    </a:p>
                    <a:p>
                      <a:pPr algn="l"/>
                      <a:r>
                        <a:rPr sz="1400" dirty="0">
                          <a:latin typeface="Roboto" panose="02000000000000000000" pitchFamily="2" charset="0"/>
                          <a:ea typeface="Roboto" panose="02000000000000000000" pitchFamily="2" charset="0"/>
                          <a:cs typeface="Roboto" panose="02000000000000000000" pitchFamily="2" charset="0"/>
                        </a:rPr>
                        <a:t>F1: 90,48%</a:t>
                      </a:r>
                    </a:p>
                    <a:p>
                      <a:pPr algn="l"/>
                      <a:r>
                        <a:rPr sz="1400" dirty="0">
                          <a:latin typeface="Roboto" panose="02000000000000000000" pitchFamily="2" charset="0"/>
                          <a:ea typeface="Roboto" panose="02000000000000000000" pitchFamily="2" charset="0"/>
                          <a:cs typeface="Roboto" panose="02000000000000000000" pitchFamily="2" charset="0"/>
                        </a:rPr>
                        <a:t>mAP@50 / @50–95: —</a:t>
                      </a:r>
                    </a:p>
                  </a:txBody>
                  <a:tcPr marL="60960" marR="60960" marT="30480" marB="30480" anchor="ctr"/>
                </a:tc>
                <a:tc>
                  <a:txBody>
                    <a:bodyPr/>
                    <a:lstStyle/>
                    <a:p>
                      <a:pPr algn="l"/>
                      <a:r>
                        <a:rPr sz="1400">
                          <a:latin typeface="Roboto" panose="02000000000000000000" pitchFamily="2" charset="0"/>
                          <a:ea typeface="Roboto" panose="02000000000000000000" pitchFamily="2" charset="0"/>
                          <a:cs typeface="Roboto" panose="02000000000000000000" pitchFamily="2" charset="0"/>
                        </a:rPr>
                        <a:t>Bảng 4.10: TP=114; FP=13; FN=11. P/R/F1 tính từ số đếm; báo cáo chưa có số liệu mAP được xác minh.</a:t>
                      </a:r>
                    </a:p>
                  </a:txBody>
                  <a:tcPr marL="60960" marR="60960" marT="30480" marB="30480" anchor="ctr"/>
                </a:tc>
                <a:extLst>
                  <a:ext uri="{0D108BD9-81ED-4DB2-BD59-A6C34878D82A}">
                    <a16:rowId xmlns:a16="http://schemas.microsoft.com/office/drawing/2014/main" val="3171579431"/>
                  </a:ext>
                </a:extLst>
              </a:tr>
              <a:tr h="679883">
                <a:tc>
                  <a:txBody>
                    <a:bodyPr/>
                    <a:lstStyle/>
                    <a:p>
                      <a:pPr algn="ctr"/>
                      <a:r>
                        <a:rPr sz="1400">
                          <a:latin typeface="Roboto" panose="02000000000000000000" pitchFamily="2" charset="0"/>
                          <a:ea typeface="Roboto" panose="02000000000000000000" pitchFamily="2" charset="0"/>
                          <a:cs typeface="Roboto" panose="02000000000000000000" pitchFamily="2" charset="0"/>
                        </a:rPr>
                        <a:t>Vũ khí – YOLOv8s</a:t>
                      </a:r>
                    </a:p>
                  </a:txBody>
                  <a:tcPr marL="60960" marR="60960" marT="30480" marB="30480" anchor="ctr"/>
                </a:tc>
                <a:tc>
                  <a:txBody>
                    <a:bodyPr/>
                    <a:lstStyle/>
                    <a:p>
                      <a:pPr algn="l"/>
                      <a:r>
                        <a:rPr sz="1400" dirty="0">
                          <a:latin typeface="Roboto" panose="02000000000000000000" pitchFamily="2" charset="0"/>
                          <a:ea typeface="Roboto" panose="02000000000000000000" pitchFamily="2" charset="0"/>
                          <a:cs typeface="Roboto" panose="02000000000000000000" pitchFamily="2" charset="0"/>
                        </a:rPr>
                        <a:t>P: 83,31%; R: 78,90%</a:t>
                      </a:r>
                    </a:p>
                    <a:p>
                      <a:pPr algn="l"/>
                      <a:r>
                        <a:rPr sz="1400" dirty="0">
                          <a:latin typeface="Roboto" panose="02000000000000000000" pitchFamily="2" charset="0"/>
                          <a:ea typeface="Roboto" panose="02000000000000000000" pitchFamily="2" charset="0"/>
                          <a:cs typeface="Roboto" panose="02000000000000000000" pitchFamily="2" charset="0"/>
                        </a:rPr>
                        <a:t>F1*: 81,04%</a:t>
                      </a:r>
                    </a:p>
                    <a:p>
                      <a:pPr algn="l"/>
                      <a:r>
                        <a:rPr sz="1400" dirty="0">
                          <a:latin typeface="Roboto" panose="02000000000000000000" pitchFamily="2" charset="0"/>
                          <a:ea typeface="Roboto" panose="02000000000000000000" pitchFamily="2" charset="0"/>
                          <a:cs typeface="Roboto" panose="02000000000000000000" pitchFamily="2" charset="0"/>
                        </a:rPr>
                        <a:t>mAP@50: 79,20%; @50–95: 44,74%</a:t>
                      </a:r>
                    </a:p>
                  </a:txBody>
                  <a:tcPr marL="60960" marR="60960" marT="30480" marB="30480" anchor="ctr"/>
                </a:tc>
                <a:tc>
                  <a:txBody>
                    <a:bodyPr/>
                    <a:lstStyle/>
                    <a:p>
                      <a:pPr algn="l"/>
                      <a:r>
                        <a:rPr sz="1400">
                          <a:latin typeface="Roboto" panose="02000000000000000000" pitchFamily="2" charset="0"/>
                          <a:ea typeface="Roboto" panose="02000000000000000000" pitchFamily="2" charset="0"/>
                          <a:cs typeface="Roboto" panose="02000000000000000000" pitchFamily="2" charset="0"/>
                        </a:rPr>
                        <a:t>Validation: weapon_yolov8s_A100-3, best.pt, epoch 118. *F1 tính từ P/R tổng hợp; không phải F1 trung bình từng lớp.</a:t>
                      </a:r>
                    </a:p>
                  </a:txBody>
                  <a:tcPr marL="60960" marR="60960" marT="30480" marB="30480" anchor="ctr"/>
                </a:tc>
                <a:extLst>
                  <a:ext uri="{0D108BD9-81ED-4DB2-BD59-A6C34878D82A}">
                    <a16:rowId xmlns:a16="http://schemas.microsoft.com/office/drawing/2014/main" val="38470843"/>
                  </a:ext>
                </a:extLst>
              </a:tr>
              <a:tr h="732734">
                <a:tc>
                  <a:txBody>
                    <a:bodyPr/>
                    <a:lstStyle/>
                    <a:p>
                      <a:pPr algn="ctr"/>
                      <a:r>
                        <a:rPr sz="1400">
                          <a:latin typeface="Roboto" panose="02000000000000000000" pitchFamily="2" charset="0"/>
                          <a:ea typeface="Roboto" panose="02000000000000000000" pitchFamily="2" charset="0"/>
                          <a:cs typeface="Roboto" panose="02000000000000000000" pitchFamily="2" charset="0"/>
                        </a:rPr>
                        <a:t>Đồng thời 4 camera</a:t>
                      </a:r>
                    </a:p>
                  </a:txBody>
                  <a:tcPr marL="60960" marR="60960" marT="30480" marB="30480" anchor="ctr"/>
                </a:tc>
                <a:tc>
                  <a:txBody>
                    <a:bodyPr/>
                    <a:lstStyle/>
                    <a:p>
                      <a:pPr algn="l"/>
                      <a:r>
                        <a:rPr sz="1400">
                          <a:latin typeface="Roboto" panose="02000000000000000000" pitchFamily="2" charset="0"/>
                          <a:ea typeface="Roboto" panose="02000000000000000000" pitchFamily="2" charset="0"/>
                          <a:cs typeface="Roboto" panose="02000000000000000000" pitchFamily="2" charset="0"/>
                        </a:rPr>
                        <a:t>FPS: 1,27 / 1,97 / 1,99 / 1,92</a:t>
                      </a:r>
                    </a:p>
                    <a:p>
                      <a:pPr algn="l"/>
                      <a:r>
                        <a:rPr sz="1400">
                          <a:latin typeface="Roboto" panose="02000000000000000000" pitchFamily="2" charset="0"/>
                          <a:ea typeface="Roboto" panose="02000000000000000000" pitchFamily="2" charset="0"/>
                          <a:cs typeface="Roboto" panose="02000000000000000000" pitchFamily="2" charset="0"/>
                        </a:rPr>
                        <a:t>Xử lý TB: 160,03 / 87,91 / 88,16 / 96,26 ms</a:t>
                      </a:r>
                    </a:p>
                  </a:txBody>
                  <a:tcPr marL="60960" marR="60960" marT="30480" marB="30480" anchor="ctr"/>
                </a:tc>
                <a:tc>
                  <a:txBody>
                    <a:bodyPr/>
                    <a:lstStyle/>
                    <a:p>
                      <a:pPr algn="l"/>
                      <a:r>
                        <a:rPr sz="1400" dirty="0" err="1">
                          <a:latin typeface="Roboto" panose="02000000000000000000" pitchFamily="2" charset="0"/>
                          <a:ea typeface="Roboto" panose="02000000000000000000" pitchFamily="2" charset="0"/>
                          <a:cs typeface="Roboto" panose="02000000000000000000" pitchFamily="2" charset="0"/>
                        </a:rPr>
                        <a:t>Thứ</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tự</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vũ</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khí</a:t>
                      </a:r>
                      <a:r>
                        <a:rPr sz="1400" dirty="0">
                          <a:latin typeface="Roboto" panose="02000000000000000000" pitchFamily="2" charset="0"/>
                          <a:ea typeface="Roboto" panose="02000000000000000000" pitchFamily="2" charset="0"/>
                          <a:cs typeface="Roboto" panose="02000000000000000000" pitchFamily="2" charset="0"/>
                        </a:rPr>
                        <a:t> / </a:t>
                      </a:r>
                      <a:r>
                        <a:rPr sz="1400" dirty="0" err="1">
                          <a:latin typeface="Roboto" panose="02000000000000000000" pitchFamily="2" charset="0"/>
                          <a:ea typeface="Roboto" panose="02000000000000000000" pitchFamily="2" charset="0"/>
                          <a:cs typeface="Roboto" panose="02000000000000000000" pitchFamily="2" charset="0"/>
                        </a:rPr>
                        <a:t>hành</a:t>
                      </a:r>
                      <a:r>
                        <a:rPr sz="1400" dirty="0">
                          <a:latin typeface="Roboto" panose="02000000000000000000" pitchFamily="2" charset="0"/>
                          <a:ea typeface="Roboto" panose="02000000000000000000" pitchFamily="2" charset="0"/>
                          <a:cs typeface="Roboto" panose="02000000000000000000" pitchFamily="2" charset="0"/>
                        </a:rPr>
                        <a:t> vi / </a:t>
                      </a:r>
                      <a:r>
                        <a:rPr sz="1400" dirty="0" err="1">
                          <a:latin typeface="Roboto" panose="02000000000000000000" pitchFamily="2" charset="0"/>
                          <a:ea typeface="Roboto" panose="02000000000000000000" pitchFamily="2" charset="0"/>
                          <a:cs typeface="Roboto" panose="02000000000000000000" pitchFamily="2" charset="0"/>
                        </a:rPr>
                        <a:t>khuôn</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mặt</a:t>
                      </a:r>
                      <a:r>
                        <a:rPr sz="1400" dirty="0">
                          <a:latin typeface="Roboto" panose="02000000000000000000" pitchFamily="2" charset="0"/>
                          <a:ea typeface="Roboto" panose="02000000000000000000" pitchFamily="2" charset="0"/>
                          <a:cs typeface="Roboto" panose="02000000000000000000" pitchFamily="2" charset="0"/>
                        </a:rPr>
                        <a:t> / </a:t>
                      </a:r>
                      <a:r>
                        <a:rPr sz="1400" dirty="0" err="1">
                          <a:latin typeface="Roboto" panose="02000000000000000000" pitchFamily="2" charset="0"/>
                          <a:ea typeface="Roboto" panose="02000000000000000000" pitchFamily="2" charset="0"/>
                          <a:cs typeface="Roboto" panose="02000000000000000000" pitchFamily="2" charset="0"/>
                        </a:rPr>
                        <a:t>đám</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đông</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Đo</a:t>
                      </a:r>
                      <a:r>
                        <a:rPr sz="1400" dirty="0">
                          <a:latin typeface="Roboto" panose="02000000000000000000" pitchFamily="2" charset="0"/>
                          <a:ea typeface="Roboto" panose="02000000000000000000" pitchFamily="2" charset="0"/>
                          <a:cs typeface="Roboto" panose="02000000000000000000" pitchFamily="2" charset="0"/>
                        </a:rPr>
                        <a:t> 79,78 </a:t>
                      </a:r>
                      <a:r>
                        <a:rPr sz="1400" dirty="0" err="1">
                          <a:latin typeface="Roboto" panose="02000000000000000000" pitchFamily="2" charset="0"/>
                          <a:ea typeface="Roboto" panose="02000000000000000000" pitchFamily="2" charset="0"/>
                          <a:cs typeface="Roboto" panose="02000000000000000000" pitchFamily="2" charset="0"/>
                        </a:rPr>
                        <a:t>giây</a:t>
                      </a:r>
                      <a:r>
                        <a:rPr sz="1400" dirty="0">
                          <a:latin typeface="Roboto" panose="02000000000000000000" pitchFamily="2" charset="0"/>
                          <a:ea typeface="Roboto" panose="02000000000000000000" pitchFamily="2" charset="0"/>
                          <a:cs typeface="Roboto" panose="02000000000000000000" pitchFamily="2" charset="0"/>
                        </a:rPr>
                        <a:t>, warm-up 60 </a:t>
                      </a:r>
                      <a:r>
                        <a:rPr sz="1400" dirty="0" err="1">
                          <a:latin typeface="Roboto" panose="02000000000000000000" pitchFamily="2" charset="0"/>
                          <a:ea typeface="Roboto" panose="02000000000000000000" pitchFamily="2" charset="0"/>
                          <a:cs typeface="Roboto" panose="02000000000000000000" pitchFamily="2" charset="0"/>
                        </a:rPr>
                        <a:t>giây</a:t>
                      </a:r>
                      <a:r>
                        <a:rPr sz="1400" dirty="0">
                          <a:latin typeface="Roboto" panose="02000000000000000000" pitchFamily="2" charset="0"/>
                          <a:ea typeface="Roboto" panose="02000000000000000000" pitchFamily="2" charset="0"/>
                          <a:cs typeface="Roboto" panose="02000000000000000000" pitchFamily="2" charset="0"/>
                        </a:rPr>
                        <a:t>; RTX 3050 Laptop.</a:t>
                      </a:r>
                    </a:p>
                  </a:txBody>
                  <a:tcPr marL="60960" marR="60960" marT="30480" marB="30480" anchor="ctr"/>
                </a:tc>
                <a:extLst>
                  <a:ext uri="{0D108BD9-81ED-4DB2-BD59-A6C34878D82A}">
                    <a16:rowId xmlns:a16="http://schemas.microsoft.com/office/drawing/2014/main" val="3701656249"/>
                  </a:ext>
                </a:extLst>
              </a:tr>
              <a:tr h="920606">
                <a:tc>
                  <a:txBody>
                    <a:bodyPr/>
                    <a:lstStyle/>
                    <a:p>
                      <a:pPr algn="ctr"/>
                      <a:r>
                        <a:rPr sz="1400">
                          <a:latin typeface="Roboto" panose="02000000000000000000" pitchFamily="2" charset="0"/>
                          <a:ea typeface="Roboto" panose="02000000000000000000" pitchFamily="2" charset="0"/>
                          <a:cs typeface="Roboto" panose="02000000000000000000" pitchFamily="2" charset="0"/>
                        </a:rPr>
                        <a:t>Crowd – một camera</a:t>
                      </a:r>
                    </a:p>
                  </a:txBody>
                  <a:tcPr marL="60960" marR="60960" marT="30480" marB="30480" anchor="ctr"/>
                </a:tc>
                <a:tc>
                  <a:txBody>
                    <a:bodyPr/>
                    <a:lstStyle/>
                    <a:p>
                      <a:pPr algn="l"/>
                      <a:r>
                        <a:rPr sz="1400">
                          <a:latin typeface="Roboto" panose="02000000000000000000" pitchFamily="2" charset="0"/>
                          <a:ea typeface="Roboto" panose="02000000000000000000" pitchFamily="2" charset="0"/>
                          <a:cs typeface="Roboto" panose="02000000000000000000" pitchFamily="2" charset="0"/>
                        </a:rPr>
                        <a:t>9,645 FPS; xử lý TB: 72,32 ms</a:t>
                      </a:r>
                    </a:p>
                    <a:p>
                      <a:pPr algn="l"/>
                      <a:r>
                        <a:rPr sz="1400">
                          <a:latin typeface="Roboto" panose="02000000000000000000" pitchFamily="2" charset="0"/>
                          <a:ea typeface="Roboto" panose="02000000000000000000" pitchFamily="2" charset="0"/>
                          <a:cs typeface="Roboto" panose="02000000000000000000" pitchFamily="2" charset="0"/>
                        </a:rPr>
                        <a:t>RTT P95: 106,26 ms</a:t>
                      </a:r>
                    </a:p>
                  </a:txBody>
                  <a:tcPr marL="60960" marR="60960" marT="30480" marB="30480" anchor="ctr"/>
                </a:tc>
                <a:tc>
                  <a:txBody>
                    <a:bodyPr/>
                    <a:lstStyle/>
                    <a:p>
                      <a:pPr algn="l"/>
                      <a:r>
                        <a:rPr sz="1400" dirty="0">
                          <a:latin typeface="Roboto" panose="02000000000000000000" pitchFamily="2" charset="0"/>
                          <a:ea typeface="Roboto" panose="02000000000000000000" pitchFamily="2" charset="0"/>
                          <a:cs typeface="Roboto" panose="02000000000000000000" pitchFamily="2" charset="0"/>
                        </a:rPr>
                        <a:t>cam94; 200 </a:t>
                      </a:r>
                      <a:r>
                        <a:rPr sz="1400" dirty="0" err="1">
                          <a:latin typeface="Roboto" panose="02000000000000000000" pitchFamily="2" charset="0"/>
                          <a:ea typeface="Roboto" panose="02000000000000000000" pitchFamily="2" charset="0"/>
                          <a:cs typeface="Roboto" panose="02000000000000000000" pitchFamily="2" charset="0"/>
                        </a:rPr>
                        <a:t>giây</a:t>
                      </a:r>
                      <a:r>
                        <a:rPr sz="1400" dirty="0">
                          <a:latin typeface="Roboto" panose="02000000000000000000" pitchFamily="2" charset="0"/>
                          <a:ea typeface="Roboto" panose="02000000000000000000" pitchFamily="2" charset="0"/>
                          <a:cs typeface="Roboto" panose="02000000000000000000" pitchFamily="2" charset="0"/>
                        </a:rPr>
                        <a:t>, warm-up 30 </a:t>
                      </a:r>
                      <a:r>
                        <a:rPr sz="1400" dirty="0" err="1">
                          <a:latin typeface="Roboto" panose="02000000000000000000" pitchFamily="2" charset="0"/>
                          <a:ea typeface="Roboto" panose="02000000000000000000" pitchFamily="2" charset="0"/>
                          <a:cs typeface="Roboto" panose="02000000000000000000" pitchFamily="2" charset="0"/>
                        </a:rPr>
                        <a:t>giây</a:t>
                      </a:r>
                      <a:r>
                        <a:rPr sz="1400" dirty="0">
                          <a:latin typeface="Roboto" panose="02000000000000000000" pitchFamily="2" charset="0"/>
                          <a:ea typeface="Roboto" panose="02000000000000000000" pitchFamily="2" charset="0"/>
                          <a:cs typeface="Roboto" panose="02000000000000000000" pitchFamily="2" charset="0"/>
                        </a:rPr>
                        <a:t>; 1.929 </a:t>
                      </a:r>
                      <a:r>
                        <a:rPr sz="1400" dirty="0" err="1">
                          <a:latin typeface="Roboto" panose="02000000000000000000" pitchFamily="2" charset="0"/>
                          <a:ea typeface="Roboto" panose="02000000000000000000" pitchFamily="2" charset="0"/>
                          <a:cs typeface="Roboto" panose="02000000000000000000" pitchFamily="2" charset="0"/>
                        </a:rPr>
                        <a:t>yêu</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cầu</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hoàn</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tất</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Nguồn</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benchmark_crowd.json</a:t>
                      </a:r>
                      <a:r>
                        <a:rPr sz="1400" dirty="0">
                          <a:latin typeface="Roboto" panose="02000000000000000000" pitchFamily="2" charset="0"/>
                          <a:ea typeface="Roboto" panose="02000000000000000000" pitchFamily="2" charset="0"/>
                          <a:cs typeface="Roboto" panose="02000000000000000000" pitchFamily="2" charset="0"/>
                        </a:rPr>
                        <a:t>/.csv.</a:t>
                      </a:r>
                    </a:p>
                  </a:txBody>
                  <a:tcPr marL="60960" marR="60960" marT="30480" marB="30480" anchor="ctr"/>
                </a:tc>
                <a:extLst>
                  <a:ext uri="{0D108BD9-81ED-4DB2-BD59-A6C34878D82A}">
                    <a16:rowId xmlns:a16="http://schemas.microsoft.com/office/drawing/2014/main" val="1964503162"/>
                  </a:ext>
                </a:extLst>
              </a:tr>
              <a:tr h="883948">
                <a:tc>
                  <a:txBody>
                    <a:bodyPr/>
                    <a:lstStyle/>
                    <a:p>
                      <a:pPr algn="ctr"/>
                      <a:r>
                        <a:rPr sz="1400">
                          <a:latin typeface="Roboto" panose="02000000000000000000" pitchFamily="2" charset="0"/>
                          <a:ea typeface="Roboto" panose="02000000000000000000" pitchFamily="2" charset="0"/>
                          <a:cs typeface="Roboto" panose="02000000000000000000" pitchFamily="2" charset="0"/>
                        </a:rPr>
                        <a:t>Tài nguyên – 4 camera</a:t>
                      </a:r>
                    </a:p>
                  </a:txBody>
                  <a:tcPr marL="60960" marR="60960" marT="30480" marB="30480" anchor="ctr"/>
                </a:tc>
                <a:tc>
                  <a:txBody>
                    <a:bodyPr/>
                    <a:lstStyle/>
                    <a:p>
                      <a:pPr algn="l"/>
                      <a:r>
                        <a:rPr sz="1400">
                          <a:latin typeface="Roboto" panose="02000000000000000000" pitchFamily="2" charset="0"/>
                          <a:ea typeface="Roboto" panose="02000000000000000000" pitchFamily="2" charset="0"/>
                          <a:cs typeface="Roboto" panose="02000000000000000000" pitchFamily="2" charset="0"/>
                        </a:rPr>
                        <a:t>CPU TB: 26,63%; GPU TB: 31,82%</a:t>
                      </a:r>
                    </a:p>
                    <a:p>
                      <a:pPr algn="l"/>
                      <a:r>
                        <a:rPr sz="1400">
                          <a:latin typeface="Roboto" panose="02000000000000000000" pitchFamily="2" charset="0"/>
                          <a:ea typeface="Roboto" panose="02000000000000000000" pitchFamily="2" charset="0"/>
                          <a:cs typeface="Roboto" panose="02000000000000000000" pitchFamily="2" charset="0"/>
                        </a:rPr>
                        <a:t>RAM máy: 14,26 GiB</a:t>
                      </a:r>
                    </a:p>
                    <a:p>
                      <a:pPr algn="l"/>
                      <a:r>
                        <a:rPr sz="1400">
                          <a:latin typeface="Roboto" panose="02000000000000000000" pitchFamily="2" charset="0"/>
                          <a:ea typeface="Roboto" panose="02000000000000000000" pitchFamily="2" charset="0"/>
                          <a:cs typeface="Roboto" panose="02000000000000000000" pitchFamily="2" charset="0"/>
                        </a:rPr>
                        <a:t>RAM backend: 1,86 GiB; VRAM: 1,87 GiB</a:t>
                      </a:r>
                    </a:p>
                  </a:txBody>
                  <a:tcPr marL="60960" marR="60960" marT="30480" marB="30480" anchor="ctr"/>
                </a:tc>
                <a:tc>
                  <a:txBody>
                    <a:bodyPr/>
                    <a:lstStyle/>
                    <a:p>
                      <a:pPr algn="l"/>
                      <a:r>
                        <a:rPr sz="1400" dirty="0" err="1">
                          <a:latin typeface="Roboto" panose="02000000000000000000" pitchFamily="2" charset="0"/>
                          <a:ea typeface="Roboto" panose="02000000000000000000" pitchFamily="2" charset="0"/>
                          <a:cs typeface="Roboto" panose="02000000000000000000" pitchFamily="2" charset="0"/>
                        </a:rPr>
                        <a:t>Bảng</a:t>
                      </a:r>
                      <a:r>
                        <a:rPr sz="1400" dirty="0">
                          <a:latin typeface="Roboto" panose="02000000000000000000" pitchFamily="2" charset="0"/>
                          <a:ea typeface="Roboto" panose="02000000000000000000" pitchFamily="2" charset="0"/>
                          <a:cs typeface="Roboto" panose="02000000000000000000" pitchFamily="2" charset="0"/>
                        </a:rPr>
                        <a:t> 4.12–4.13. FPS </a:t>
                      </a:r>
                      <a:r>
                        <a:rPr sz="1400" dirty="0" err="1">
                          <a:latin typeface="Roboto" panose="02000000000000000000" pitchFamily="2" charset="0"/>
                          <a:ea typeface="Roboto" panose="02000000000000000000" pitchFamily="2" charset="0"/>
                          <a:cs typeface="Roboto" panose="02000000000000000000" pitchFamily="2" charset="0"/>
                        </a:rPr>
                        <a:t>là</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tốc</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độ</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hoàn</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tất</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xử</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lý</a:t>
                      </a:r>
                      <a:r>
                        <a:rPr sz="1400" dirty="0">
                          <a:latin typeface="Roboto" panose="02000000000000000000" pitchFamily="2" charset="0"/>
                          <a:ea typeface="Roboto" panose="02000000000000000000" pitchFamily="2" charset="0"/>
                          <a:cs typeface="Roboto" panose="02000000000000000000" pitchFamily="2" charset="0"/>
                        </a:rPr>
                        <a:t> AI; RTT </a:t>
                      </a:r>
                      <a:r>
                        <a:rPr sz="1400" dirty="0" err="1">
                          <a:latin typeface="Roboto" panose="02000000000000000000" pitchFamily="2" charset="0"/>
                          <a:ea typeface="Roboto" panose="02000000000000000000" pitchFamily="2" charset="0"/>
                          <a:cs typeface="Roboto" panose="02000000000000000000" pitchFamily="2" charset="0"/>
                        </a:rPr>
                        <a:t>không</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phải</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độ</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trễ</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cảnh</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báo</a:t>
                      </a:r>
                      <a:r>
                        <a:rPr sz="1400" dirty="0">
                          <a:latin typeface="Roboto" panose="02000000000000000000" pitchFamily="2" charset="0"/>
                          <a:ea typeface="Roboto" panose="02000000000000000000" pitchFamily="2" charset="0"/>
                          <a:cs typeface="Roboto" panose="02000000000000000000" pitchFamily="2" charset="0"/>
                        </a:rPr>
                        <a:t> </a:t>
                      </a:r>
                      <a:r>
                        <a:rPr sz="1400" dirty="0" err="1">
                          <a:latin typeface="Roboto" panose="02000000000000000000" pitchFamily="2" charset="0"/>
                          <a:ea typeface="Roboto" panose="02000000000000000000" pitchFamily="2" charset="0"/>
                          <a:cs typeface="Roboto" panose="02000000000000000000" pitchFamily="2" charset="0"/>
                        </a:rPr>
                        <a:t>đầu-cuối</a:t>
                      </a:r>
                      <a:r>
                        <a:rPr sz="1400" dirty="0">
                          <a:latin typeface="Roboto" panose="02000000000000000000" pitchFamily="2" charset="0"/>
                          <a:ea typeface="Roboto" panose="02000000000000000000" pitchFamily="2" charset="0"/>
                          <a:cs typeface="Roboto" panose="02000000000000000000" pitchFamily="2" charset="0"/>
                        </a:rPr>
                        <a:t>.</a:t>
                      </a:r>
                    </a:p>
                  </a:txBody>
                  <a:tcPr marL="60960" marR="60960" marT="30480" marB="30480" anchor="ctr"/>
                </a:tc>
                <a:extLst>
                  <a:ext uri="{0D108BD9-81ED-4DB2-BD59-A6C34878D82A}">
                    <a16:rowId xmlns:a16="http://schemas.microsoft.com/office/drawing/2014/main" val="786292724"/>
                  </a:ext>
                </a:extLst>
              </a:tr>
            </a:tbl>
          </a:graphicData>
        </a:graphic>
      </p:graphicFrame>
      <p:sp>
        <p:nvSpPr>
          <p:cNvPr id="7" name="TextBox 6">
            <a:extLst>
              <a:ext uri="{FF2B5EF4-FFF2-40B4-BE49-F238E27FC236}">
                <a16:creationId xmlns:a16="http://schemas.microsoft.com/office/drawing/2014/main" id="{814F9237-16CF-E88E-1D8B-D9181D3D68A5}"/>
              </a:ext>
            </a:extLst>
          </p:cNvPr>
          <p:cNvSpPr txBox="1"/>
          <p:nvPr/>
        </p:nvSpPr>
        <p:spPr>
          <a:xfrm>
            <a:off x="762000" y="401411"/>
            <a:ext cx="7291386" cy="686213"/>
          </a:xfrm>
          <a:prstGeom prst="rect">
            <a:avLst/>
          </a:prstGeom>
          <a:noFill/>
        </p:spPr>
        <p:txBody>
          <a:bodyPr wrap="square">
            <a:spAutoFit/>
          </a:bodyPr>
          <a:lstStyle/>
          <a:p>
            <a:pPr marL="0" algn="l" rtl="0" eaLnBrk="1" latinLnBrk="0" hangingPunct="1">
              <a:lnSpc>
                <a:spcPts val="5280"/>
              </a:lnSpc>
              <a:buNone/>
            </a:pPr>
            <a:r>
              <a:rPr lang="vi-VN" sz="2800" b="1" dirty="0">
                <a:latin typeface="Times New Roman" panose="02020603050405020304" pitchFamily="18" charset="0"/>
                <a:ea typeface="Karnchang SemiCondensed Semi-Bold" panose="020B0604020202020204" charset="-34"/>
                <a:cs typeface="Times New Roman" panose="02020603050405020304" pitchFamily="18" charset="0"/>
              </a:rPr>
              <a:t>6. Kết quả mô hình và hiệu năng thực nghiệm</a:t>
            </a:r>
            <a:endParaRPr lang="en-US" sz="2800" dirty="0">
              <a:effectLst/>
              <a:latin typeface="Times New Roman" panose="02020603050405020304" pitchFamily="18" charset="0"/>
              <a:cs typeface="Times New Roman" panose="02020603050405020304" pitchFamily="18" charset="0"/>
            </a:endParaRPr>
          </a:p>
        </p:txBody>
      </p:sp>
      <p:sp>
        <p:nvSpPr>
          <p:cNvPr id="6" name="Freeform 4">
            <a:extLst>
              <a:ext uri="{FF2B5EF4-FFF2-40B4-BE49-F238E27FC236}">
                <a16:creationId xmlns:a16="http://schemas.microsoft.com/office/drawing/2014/main" id="{4C3D43E6-8525-473C-B289-5095556A653E}"/>
              </a:ext>
            </a:extLst>
          </p:cNvPr>
          <p:cNvSpPr/>
          <p:nvPr/>
        </p:nvSpPr>
        <p:spPr>
          <a:xfrm rot="1692556">
            <a:off x="-1535917" y="5004891"/>
            <a:ext cx="5278899" cy="2903394"/>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200"/>
          </a:p>
        </p:txBody>
      </p:sp>
    </p:spTree>
    <p:extLst>
      <p:ext uri="{BB962C8B-B14F-4D97-AF65-F5344CB8AC3E}">
        <p14:creationId xmlns:p14="http://schemas.microsoft.com/office/powerpoint/2010/main" val="644860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1BCF-4ED7-F54F-1468-EA5A2E769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6B8F9-0861-B490-7309-AB4A018EB80A}"/>
              </a:ext>
            </a:extLst>
          </p:cNvPr>
          <p:cNvSpPr>
            <a:spLocks noGrp="1"/>
          </p:cNvSpPr>
          <p:nvPr>
            <p:ph type="ctrTitle"/>
          </p:nvPr>
        </p:nvSpPr>
        <p:spPr>
          <a:xfrm>
            <a:off x="1778000" y="2658431"/>
            <a:ext cx="8636000" cy="1790699"/>
          </a:xfrm>
        </p:spPr>
        <p:txBody>
          <a:bodyPr/>
          <a:lstStyle/>
          <a:p>
            <a:r>
              <a:rPr lang="en-US" sz="5400" b="1" dirty="0" err="1">
                <a:latin typeface="Roboto" panose="02000000000000000000" pitchFamily="2" charset="0"/>
                <a:ea typeface="Roboto" panose="02000000000000000000" pitchFamily="2" charset="0"/>
                <a:cs typeface="Roboto" panose="02000000000000000000" pitchFamily="2" charset="0"/>
              </a:rPr>
              <a:t>Kết</a:t>
            </a:r>
            <a:r>
              <a:rPr lang="en-US" sz="5400" b="1" dirty="0">
                <a:latin typeface="Roboto" panose="02000000000000000000" pitchFamily="2" charset="0"/>
                <a:ea typeface="Roboto" panose="02000000000000000000" pitchFamily="2" charset="0"/>
                <a:cs typeface="Roboto" panose="02000000000000000000" pitchFamily="2" charset="0"/>
              </a:rPr>
              <a:t> </a:t>
            </a:r>
            <a:r>
              <a:rPr lang="en-US" sz="5400" b="1" dirty="0" err="1">
                <a:latin typeface="Roboto" panose="02000000000000000000" pitchFamily="2" charset="0"/>
                <a:ea typeface="Roboto" panose="02000000000000000000" pitchFamily="2" charset="0"/>
                <a:cs typeface="Roboto" panose="02000000000000000000" pitchFamily="2" charset="0"/>
              </a:rPr>
              <a:t>luận</a:t>
            </a:r>
            <a:r>
              <a:rPr lang="en-US" sz="5400" b="1" dirty="0">
                <a:latin typeface="Roboto" panose="02000000000000000000" pitchFamily="2" charset="0"/>
                <a:ea typeface="Roboto" panose="02000000000000000000" pitchFamily="2" charset="0"/>
                <a:cs typeface="Roboto" panose="02000000000000000000" pitchFamily="2" charset="0"/>
              </a:rPr>
              <a:t> </a:t>
            </a:r>
            <a:r>
              <a:rPr lang="en-US" sz="5400" b="1" dirty="0" err="1">
                <a:latin typeface="Roboto" panose="02000000000000000000" pitchFamily="2" charset="0"/>
                <a:ea typeface="Roboto" panose="02000000000000000000" pitchFamily="2" charset="0"/>
                <a:cs typeface="Roboto" panose="02000000000000000000" pitchFamily="2" charset="0"/>
              </a:rPr>
              <a:t>và</a:t>
            </a:r>
            <a:r>
              <a:rPr lang="en-US" sz="5400" b="1" dirty="0">
                <a:latin typeface="Roboto" panose="02000000000000000000" pitchFamily="2" charset="0"/>
                <a:ea typeface="Roboto" panose="02000000000000000000" pitchFamily="2" charset="0"/>
                <a:cs typeface="Roboto" panose="02000000000000000000" pitchFamily="2" charset="0"/>
              </a:rPr>
              <a:t> h</a:t>
            </a:r>
            <a:r>
              <a:rPr lang="vi-VN" sz="5400" b="1" dirty="0">
                <a:latin typeface="Roboto" panose="02000000000000000000" pitchFamily="2" charset="0"/>
                <a:ea typeface="Roboto" panose="02000000000000000000" pitchFamily="2" charset="0"/>
                <a:cs typeface="Roboto" panose="02000000000000000000" pitchFamily="2" charset="0"/>
              </a:rPr>
              <a:t>ư</a:t>
            </a:r>
            <a:r>
              <a:rPr lang="en-US" sz="5400" b="1" dirty="0" err="1">
                <a:latin typeface="Roboto" panose="02000000000000000000" pitchFamily="2" charset="0"/>
                <a:ea typeface="Roboto" panose="02000000000000000000" pitchFamily="2" charset="0"/>
                <a:cs typeface="Roboto" panose="02000000000000000000" pitchFamily="2" charset="0"/>
              </a:rPr>
              <a:t>ớng</a:t>
            </a:r>
            <a:r>
              <a:rPr lang="en-US" sz="5400" b="1" dirty="0">
                <a:latin typeface="Roboto" panose="02000000000000000000" pitchFamily="2" charset="0"/>
                <a:ea typeface="Roboto" panose="02000000000000000000" pitchFamily="2" charset="0"/>
                <a:cs typeface="Roboto" panose="02000000000000000000" pitchFamily="2" charset="0"/>
              </a:rPr>
              <a:t> </a:t>
            </a:r>
            <a:r>
              <a:rPr lang="en-US" sz="5400" b="1" dirty="0" err="1">
                <a:latin typeface="Roboto" panose="02000000000000000000" pitchFamily="2" charset="0"/>
                <a:ea typeface="Roboto" panose="02000000000000000000" pitchFamily="2" charset="0"/>
                <a:cs typeface="Roboto" panose="02000000000000000000" pitchFamily="2" charset="0"/>
              </a:rPr>
              <a:t>phát</a:t>
            </a:r>
            <a:r>
              <a:rPr lang="en-US" sz="5400" b="1" dirty="0">
                <a:latin typeface="Roboto" panose="02000000000000000000" pitchFamily="2" charset="0"/>
                <a:ea typeface="Roboto" panose="02000000000000000000" pitchFamily="2" charset="0"/>
                <a:cs typeface="Roboto" panose="02000000000000000000" pitchFamily="2" charset="0"/>
              </a:rPr>
              <a:t> </a:t>
            </a:r>
            <a:r>
              <a:rPr lang="en-US" sz="5400" b="1" dirty="0" err="1">
                <a:latin typeface="Roboto" panose="02000000000000000000" pitchFamily="2" charset="0"/>
                <a:ea typeface="Roboto" panose="02000000000000000000" pitchFamily="2" charset="0"/>
                <a:cs typeface="Roboto" panose="02000000000000000000" pitchFamily="2" charset="0"/>
              </a:rPr>
              <a:t>triển</a:t>
            </a:r>
            <a:endParaRPr lang="en-US" sz="5400" b="1" dirty="0">
              <a:latin typeface="Roboto" panose="02000000000000000000" pitchFamily="2" charset="0"/>
              <a:ea typeface="Roboto" panose="02000000000000000000" pitchFamily="2" charset="0"/>
              <a:cs typeface="Roboto" panose="02000000000000000000" pitchFamily="2" charset="0"/>
            </a:endParaRPr>
          </a:p>
        </p:txBody>
      </p:sp>
      <p:sp>
        <p:nvSpPr>
          <p:cNvPr id="3" name="Freeform 12">
            <a:extLst>
              <a:ext uri="{FF2B5EF4-FFF2-40B4-BE49-F238E27FC236}">
                <a16:creationId xmlns:a16="http://schemas.microsoft.com/office/drawing/2014/main" id="{91970CD5-8FFA-E570-8436-744C84585ED4}"/>
              </a:ext>
            </a:extLst>
          </p:cNvPr>
          <p:cNvSpPr/>
          <p:nvPr/>
        </p:nvSpPr>
        <p:spPr>
          <a:xfrm>
            <a:off x="9376229" y="-169666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12">
            <a:extLst>
              <a:ext uri="{FF2B5EF4-FFF2-40B4-BE49-F238E27FC236}">
                <a16:creationId xmlns:a16="http://schemas.microsoft.com/office/drawing/2014/main" id="{7FEA7953-33D5-7892-44AF-E38E0918EE8C}"/>
              </a:ext>
            </a:extLst>
          </p:cNvPr>
          <p:cNvSpPr/>
          <p:nvPr/>
        </p:nvSpPr>
        <p:spPr>
          <a:xfrm rot="13287298">
            <a:off x="-4391831" y="4152900"/>
            <a:ext cx="7918348" cy="4355091"/>
          </a:xfrm>
          <a:custGeom>
            <a:avLst/>
            <a:gdLst/>
            <a:ahLst/>
            <a:cxnLst/>
            <a:rect l="l" t="t" r="r" b="b"/>
            <a:pathLst>
              <a:path w="7918348" h="4355091">
                <a:moveTo>
                  <a:pt x="0" y="0"/>
                </a:moveTo>
                <a:lnTo>
                  <a:pt x="7918348" y="0"/>
                </a:lnTo>
                <a:lnTo>
                  <a:pt x="7918348" y="4355091"/>
                </a:lnTo>
                <a:lnTo>
                  <a:pt x="0" y="43550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extLst>
      <p:ext uri="{BB962C8B-B14F-4D97-AF65-F5344CB8AC3E}">
        <p14:creationId xmlns:p14="http://schemas.microsoft.com/office/powerpoint/2010/main" val="2720877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3707-A50C-79E9-8670-6D0FB9312FBA}"/>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4AA6A8C-37B7-30C0-A720-C54C9348ED1F}"/>
              </a:ext>
            </a:extLst>
          </p:cNvPr>
          <p:cNvGrpSpPr/>
          <p:nvPr/>
        </p:nvGrpSpPr>
        <p:grpSpPr>
          <a:xfrm>
            <a:off x="863442" y="2006601"/>
            <a:ext cx="10511572" cy="1050706"/>
            <a:chOff x="921187" y="2591276"/>
            <a:chExt cx="12833747" cy="920182"/>
          </a:xfrm>
        </p:grpSpPr>
        <p:sp>
          <p:nvSpPr>
            <p:cNvPr id="18" name="Shape 3">
              <a:extLst>
                <a:ext uri="{FF2B5EF4-FFF2-40B4-BE49-F238E27FC236}">
                  <a16:creationId xmlns:a16="http://schemas.microsoft.com/office/drawing/2014/main" id="{370E90D2-E2C8-6314-313B-44B33636328C}"/>
                </a:ext>
              </a:extLst>
            </p:cNvPr>
            <p:cNvSpPr/>
            <p:nvPr/>
          </p:nvSpPr>
          <p:spPr>
            <a:xfrm>
              <a:off x="921187" y="2591276"/>
              <a:ext cx="12833747" cy="878174"/>
            </a:xfrm>
            <a:prstGeom prst="rect">
              <a:avLst/>
            </a:prstGeom>
            <a:ln/>
          </p:spPr>
          <p:style>
            <a:lnRef idx="2">
              <a:schemeClr val="dk1"/>
            </a:lnRef>
            <a:fillRef idx="1">
              <a:schemeClr val="lt1"/>
            </a:fillRef>
            <a:effectRef idx="0">
              <a:schemeClr val="dk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sz="2000"/>
            </a:p>
          </p:txBody>
        </p:sp>
        <p:sp>
          <p:nvSpPr>
            <p:cNvPr id="19" name="Text 4">
              <a:extLst>
                <a:ext uri="{FF2B5EF4-FFF2-40B4-BE49-F238E27FC236}">
                  <a16:creationId xmlns:a16="http://schemas.microsoft.com/office/drawing/2014/main" id="{F6110ED0-352B-E24B-58FF-1CB5744F62E5}"/>
                </a:ext>
              </a:extLst>
            </p:cNvPr>
            <p:cNvSpPr/>
            <p:nvPr/>
          </p:nvSpPr>
          <p:spPr>
            <a:xfrm>
              <a:off x="1078349" y="2756059"/>
              <a:ext cx="2153126" cy="269081"/>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00"/>
                </a:lnSpc>
                <a:buNone/>
              </a:pPr>
              <a:r>
                <a:rPr lang="vi-VN" b="1" dirty="0">
                  <a:latin typeface="Roboto Bold" pitchFamily="34" charset="0"/>
                  <a:ea typeface="Roboto Bold" pitchFamily="34" charset="-122"/>
                  <a:cs typeface="Roboto Bold" pitchFamily="34" charset="-120"/>
                </a:rPr>
                <a:t>1. Web và Mobile:</a:t>
              </a:r>
              <a:endParaRPr lang="en-US" dirty="0"/>
            </a:p>
          </p:txBody>
        </p:sp>
        <p:sp>
          <p:nvSpPr>
            <p:cNvPr id="20" name="Text 5">
              <a:extLst>
                <a:ext uri="{FF2B5EF4-FFF2-40B4-BE49-F238E27FC236}">
                  <a16:creationId xmlns:a16="http://schemas.microsoft.com/office/drawing/2014/main" id="{33FAA2EF-05E0-2761-7491-90FCC03CDD63}"/>
                </a:ext>
              </a:extLst>
            </p:cNvPr>
            <p:cNvSpPr/>
            <p:nvPr/>
          </p:nvSpPr>
          <p:spPr>
            <a:xfrm>
              <a:off x="1106261" y="3131900"/>
              <a:ext cx="12206650" cy="379558"/>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vi-VN" sz="1400" dirty="0">
                  <a:latin typeface="Roboto" pitchFamily="34" charset="0"/>
                  <a:ea typeface="Roboto" pitchFamily="34" charset="-122"/>
                  <a:cs typeface="Roboto" pitchFamily="34" charset="-120"/>
                </a:rPr>
                <a:t>Xây dựng giao diện quản lý camera, danh tính, sự kiện và báo cáo; hỗ trợ nhân viên tiếp nhận, cập nhật xử lý.</a:t>
              </a:r>
            </a:p>
          </p:txBody>
        </p:sp>
      </p:grpSp>
      <p:grpSp>
        <p:nvGrpSpPr>
          <p:cNvPr id="4" name="Group 3">
            <a:extLst>
              <a:ext uri="{FF2B5EF4-FFF2-40B4-BE49-F238E27FC236}">
                <a16:creationId xmlns:a16="http://schemas.microsoft.com/office/drawing/2014/main" id="{A573C021-0133-0D67-8A1F-474D014214DA}"/>
              </a:ext>
            </a:extLst>
          </p:cNvPr>
          <p:cNvGrpSpPr/>
          <p:nvPr/>
        </p:nvGrpSpPr>
        <p:grpSpPr>
          <a:xfrm>
            <a:off x="863442" y="3232585"/>
            <a:ext cx="10511572" cy="1002739"/>
            <a:chOff x="921187" y="3649504"/>
            <a:chExt cx="12833747" cy="878175"/>
          </a:xfrm>
        </p:grpSpPr>
        <p:sp>
          <p:nvSpPr>
            <p:cNvPr id="13" name="Shape 6">
              <a:extLst>
                <a:ext uri="{FF2B5EF4-FFF2-40B4-BE49-F238E27FC236}">
                  <a16:creationId xmlns:a16="http://schemas.microsoft.com/office/drawing/2014/main" id="{DC057E0E-0641-2CC5-5A50-4C11556C93EB}"/>
                </a:ext>
              </a:extLst>
            </p:cNvPr>
            <p:cNvSpPr/>
            <p:nvPr/>
          </p:nvSpPr>
          <p:spPr>
            <a:xfrm>
              <a:off x="921187" y="3649504"/>
              <a:ext cx="12833747" cy="878175"/>
            </a:xfrm>
            <a:prstGeom prst="rect">
              <a:avLst/>
            </a:prstGeom>
            <a:ln/>
          </p:spPr>
          <p:style>
            <a:lnRef idx="2">
              <a:schemeClr val="dk1"/>
            </a:lnRef>
            <a:fillRef idx="1">
              <a:schemeClr val="lt1"/>
            </a:fillRef>
            <a:effectRef idx="0">
              <a:schemeClr val="dk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sz="2000"/>
            </a:p>
          </p:txBody>
        </p:sp>
        <p:sp>
          <p:nvSpPr>
            <p:cNvPr id="14" name="Text 7">
              <a:extLst>
                <a:ext uri="{FF2B5EF4-FFF2-40B4-BE49-F238E27FC236}">
                  <a16:creationId xmlns:a16="http://schemas.microsoft.com/office/drawing/2014/main" id="{9C42E77F-8C1A-7009-8C6F-CAB096D2C656}"/>
                </a:ext>
              </a:extLst>
            </p:cNvPr>
            <p:cNvSpPr/>
            <p:nvPr/>
          </p:nvSpPr>
          <p:spPr>
            <a:xfrm>
              <a:off x="1078349" y="3814286"/>
              <a:ext cx="2153126" cy="269081"/>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00"/>
                </a:lnSpc>
                <a:buNone/>
              </a:pPr>
              <a:r>
                <a:rPr lang="en-US" b="1" dirty="0">
                  <a:latin typeface="Roboto Bold" pitchFamily="34" charset="0"/>
                  <a:ea typeface="Roboto Bold" pitchFamily="34" charset="-122"/>
                  <a:cs typeface="Roboto Bold" pitchFamily="34" charset="-120"/>
                </a:rPr>
                <a:t>2. Nhận diện và xử lý sự kiện:</a:t>
              </a:r>
              <a:endParaRPr lang="en-US" dirty="0"/>
            </a:p>
          </p:txBody>
        </p:sp>
        <p:sp>
          <p:nvSpPr>
            <p:cNvPr id="17" name="Text 8">
              <a:extLst>
                <a:ext uri="{FF2B5EF4-FFF2-40B4-BE49-F238E27FC236}">
                  <a16:creationId xmlns:a16="http://schemas.microsoft.com/office/drawing/2014/main" id="{B5EEB379-B3DF-F0C2-D9F8-FE2828CE83EE}"/>
                </a:ext>
              </a:extLst>
            </p:cNvPr>
            <p:cNvSpPr/>
            <p:nvPr/>
          </p:nvSpPr>
          <p:spPr>
            <a:xfrm>
              <a:off x="1078349" y="4140436"/>
              <a:ext cx="12387789" cy="348899"/>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vi-VN" sz="1400" dirty="0">
                  <a:latin typeface="Roboto" pitchFamily="34" charset="0"/>
                  <a:ea typeface="Roboto" pitchFamily="34" charset="-122"/>
                  <a:cs typeface="Roboto" pitchFamily="34" charset="-120"/>
                </a:rPr>
                <a:t>Tích hợp YOLOv8, YOLOv8s và InsightFace cho bốn nhóm nhận diện. Event Engine xác nhận cảnh báo, lưu ảnh có box và</a:t>
              </a:r>
            </a:p>
            <a:p>
              <a:pPr marL="0" indent="0" algn="l">
                <a:lnSpc>
                  <a:spcPts val="1350"/>
                </a:lnSpc>
                <a:buNone/>
              </a:pPr>
              <a:r>
                <a:rPr lang="vi-VN" sz="1400" dirty="0">
                  <a:latin typeface="Roboto" pitchFamily="34" charset="0"/>
                  <a:ea typeface="Roboto" pitchFamily="34" charset="-122"/>
                  <a:cs typeface="Roboto" pitchFamily="34" charset="-120"/>
                </a:rPr>
                <a:t>hạn chế ghi trùng.</a:t>
              </a:r>
            </a:p>
          </p:txBody>
        </p:sp>
      </p:grpSp>
      <p:grpSp>
        <p:nvGrpSpPr>
          <p:cNvPr id="5" name="Group 4">
            <a:extLst>
              <a:ext uri="{FF2B5EF4-FFF2-40B4-BE49-F238E27FC236}">
                <a16:creationId xmlns:a16="http://schemas.microsoft.com/office/drawing/2014/main" id="{3031347B-EDA4-DDED-07A9-52C1AD4D1889}"/>
              </a:ext>
            </a:extLst>
          </p:cNvPr>
          <p:cNvGrpSpPr/>
          <p:nvPr/>
        </p:nvGrpSpPr>
        <p:grpSpPr>
          <a:xfrm>
            <a:off x="886304" y="4441502"/>
            <a:ext cx="10511572" cy="1002739"/>
            <a:chOff x="921187" y="4707731"/>
            <a:chExt cx="12833747" cy="838200"/>
          </a:xfrm>
        </p:grpSpPr>
        <p:sp>
          <p:nvSpPr>
            <p:cNvPr id="10" name="Shape 9">
              <a:extLst>
                <a:ext uri="{FF2B5EF4-FFF2-40B4-BE49-F238E27FC236}">
                  <a16:creationId xmlns:a16="http://schemas.microsoft.com/office/drawing/2014/main" id="{76492E22-C13D-FCC0-DE13-73393FC6FEE7}"/>
                </a:ext>
              </a:extLst>
            </p:cNvPr>
            <p:cNvSpPr/>
            <p:nvPr/>
          </p:nvSpPr>
          <p:spPr>
            <a:xfrm>
              <a:off x="921187" y="4707731"/>
              <a:ext cx="12833747" cy="838200"/>
            </a:xfrm>
            <a:prstGeom prst="rect">
              <a:avLst/>
            </a:prstGeom>
            <a:ln/>
          </p:spPr>
          <p:style>
            <a:lnRef idx="2">
              <a:schemeClr val="dk1"/>
            </a:lnRef>
            <a:fillRef idx="1">
              <a:schemeClr val="lt1"/>
            </a:fillRef>
            <a:effectRef idx="0">
              <a:schemeClr val="dk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sz="2000"/>
            </a:p>
          </p:txBody>
        </p:sp>
        <p:sp>
          <p:nvSpPr>
            <p:cNvPr id="11" name="Text 10">
              <a:extLst>
                <a:ext uri="{FF2B5EF4-FFF2-40B4-BE49-F238E27FC236}">
                  <a16:creationId xmlns:a16="http://schemas.microsoft.com/office/drawing/2014/main" id="{C5275344-98B3-8230-6F64-03508AAC2BB5}"/>
                </a:ext>
              </a:extLst>
            </p:cNvPr>
            <p:cNvSpPr/>
            <p:nvPr/>
          </p:nvSpPr>
          <p:spPr>
            <a:xfrm>
              <a:off x="1078349" y="4872514"/>
              <a:ext cx="2153126" cy="269081"/>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00"/>
                </a:lnSpc>
                <a:buNone/>
              </a:pPr>
              <a:r>
                <a:rPr lang="en-US" b="1" dirty="0">
                  <a:latin typeface="Roboto Bold" pitchFamily="34" charset="0"/>
                  <a:ea typeface="Roboto Bold" pitchFamily="34" charset="-122"/>
                  <a:cs typeface="Roboto Bold" pitchFamily="34" charset="-120"/>
                </a:rPr>
                <a:t>3. ASA và phạm vi đánh giá:</a:t>
              </a:r>
              <a:endParaRPr lang="en-US" dirty="0"/>
            </a:p>
          </p:txBody>
        </p:sp>
        <p:sp>
          <p:nvSpPr>
            <p:cNvPr id="12" name="Text 11">
              <a:extLst>
                <a:ext uri="{FF2B5EF4-FFF2-40B4-BE49-F238E27FC236}">
                  <a16:creationId xmlns:a16="http://schemas.microsoft.com/office/drawing/2014/main" id="{C4F7E08B-6E4E-07C1-2CA0-17B3AA3AB3A3}"/>
                </a:ext>
              </a:extLst>
            </p:cNvPr>
            <p:cNvSpPr/>
            <p:nvPr/>
          </p:nvSpPr>
          <p:spPr>
            <a:xfrm>
              <a:off x="1050437" y="5132520"/>
              <a:ext cx="12235844" cy="362843"/>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vi-VN" sz="1400" dirty="0">
                  <a:latin typeface="Roboto" pitchFamily="34" charset="0"/>
                  <a:ea typeface="Roboto" pitchFamily="34" charset="-122"/>
                  <a:cs typeface="Roboto" pitchFamily="34" charset="-120"/>
                </a:rPr>
                <a:t>ASA truy xuất từ khóa/SQL kết hợp Gemini để hỗ trợ SOP và báo cáo. Đã có số liệu Validation vũ khí, benchmark; chưa xác</a:t>
              </a:r>
            </a:p>
            <a:p>
              <a:pPr marL="0" indent="0" algn="l">
                <a:lnSpc>
                  <a:spcPts val="1350"/>
                </a:lnSpc>
                <a:buNone/>
              </a:pPr>
              <a:r>
                <a:rPr lang="vi-VN" sz="1400" dirty="0">
                  <a:latin typeface="Roboto" pitchFamily="34" charset="0"/>
                  <a:ea typeface="Roboto" pitchFamily="34" charset="-122"/>
                  <a:cs typeface="Roboto" pitchFamily="34" charset="-120"/>
                </a:rPr>
                <a:t>nhận đạt toàn bộ KPI.</a:t>
              </a:r>
            </a:p>
          </p:txBody>
        </p:sp>
      </p:grpSp>
      <p:sp>
        <p:nvSpPr>
          <p:cNvPr id="2" name="Shape 2">
            <a:extLst>
              <a:ext uri="{FF2B5EF4-FFF2-40B4-BE49-F238E27FC236}">
                <a16:creationId xmlns:a16="http://schemas.microsoft.com/office/drawing/2014/main" id="{1ED7211E-8438-9D9B-8212-CF2B17A8E988}"/>
              </a:ext>
            </a:extLst>
          </p:cNvPr>
          <p:cNvSpPr/>
          <p:nvPr/>
        </p:nvSpPr>
        <p:spPr>
          <a:xfrm>
            <a:off x="840582" y="1998244"/>
            <a:ext cx="76980" cy="3445997"/>
          </a:xfrm>
          <a:prstGeom prst="roundRect">
            <a:avLst>
              <a:gd name="adj" fmla="val 288842"/>
            </a:avLst>
          </a:prstGeom>
          <a:solidFill>
            <a:srgbClr val="FF0000"/>
          </a:solidFill>
          <a:ln/>
        </p:spPr>
        <p:style>
          <a:lnRef idx="1">
            <a:schemeClr val="accent1"/>
          </a:lnRef>
          <a:fillRef idx="2">
            <a:schemeClr val="accent1"/>
          </a:fillRef>
          <a:effectRef idx="1">
            <a:schemeClr val="accent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a:p>
        </p:txBody>
      </p:sp>
      <p:sp>
        <p:nvSpPr>
          <p:cNvPr id="21" name="Google Shape;101;p13">
            <a:extLst>
              <a:ext uri="{FF2B5EF4-FFF2-40B4-BE49-F238E27FC236}">
                <a16:creationId xmlns:a16="http://schemas.microsoft.com/office/drawing/2014/main" id="{FFA394A5-1139-A3F8-07A6-C0C882E4F501}"/>
              </a:ext>
            </a:extLst>
          </p:cNvPr>
          <p:cNvSpPr txBox="1"/>
          <p:nvPr/>
        </p:nvSpPr>
        <p:spPr>
          <a:xfrm>
            <a:off x="840582" y="563463"/>
            <a:ext cx="11351418"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900" b="1" i="0" u="none" strike="noStrike" cap="none" dirty="0">
                <a:latin typeface="Times New Roman" panose="02020603050405020304" pitchFamily="18" charset="0"/>
                <a:ea typeface="Urbanist"/>
                <a:cs typeface="Times New Roman" panose="02020603050405020304" pitchFamily="18" charset="0"/>
                <a:sym typeface="Urbanist"/>
              </a:rPr>
              <a:t>Kết luận</a:t>
            </a:r>
            <a:endParaRPr dirty="0">
              <a:latin typeface="Times New Roman" panose="02020603050405020304" pitchFamily="18" charset="0"/>
              <a:cs typeface="Times New Roman" panose="02020603050405020304" pitchFamily="18" charset="0"/>
            </a:endParaRPr>
          </a:p>
        </p:txBody>
      </p:sp>
      <p:sp>
        <p:nvSpPr>
          <p:cNvPr id="22" name="Google Shape;102;p13">
            <a:extLst>
              <a:ext uri="{FF2B5EF4-FFF2-40B4-BE49-F238E27FC236}">
                <a16:creationId xmlns:a16="http://schemas.microsoft.com/office/drawing/2014/main" id="{9ABBD42D-06A2-C6FB-41F6-7129DCF66AC3}"/>
              </a:ext>
            </a:extLst>
          </p:cNvPr>
          <p:cNvSpPr/>
          <p:nvPr/>
        </p:nvSpPr>
        <p:spPr>
          <a:xfrm>
            <a:off x="602457" y="563463"/>
            <a:ext cx="57150" cy="590550"/>
          </a:xfrm>
          <a:prstGeom prst="rect">
            <a:avLst/>
          </a:prstGeom>
          <a:solidFill>
            <a:schemeClr val="tx1">
              <a:lumMod val="85000"/>
              <a:lumOff val="1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658292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91A65-E776-45CC-6836-7EDE28748D46}"/>
            </a:ext>
          </a:extLst>
        </p:cNvPr>
        <p:cNvGrpSpPr/>
        <p:nvPr/>
      </p:nvGrpSpPr>
      <p:grpSpPr>
        <a:xfrm>
          <a:off x="0" y="0"/>
          <a:ext cx="0" cy="0"/>
          <a:chOff x="0" y="0"/>
          <a:chExt cx="0" cy="0"/>
        </a:xfrm>
      </p:grpSpPr>
      <p:pic>
        <p:nvPicPr>
          <p:cNvPr id="29" name="Google Shape;85;p13" descr="image.png">
            <a:extLst>
              <a:ext uri="{FF2B5EF4-FFF2-40B4-BE49-F238E27FC236}">
                <a16:creationId xmlns:a16="http://schemas.microsoft.com/office/drawing/2014/main" id="{F55E0272-FA3D-DC20-3483-C7D2E48CB186}"/>
              </a:ext>
            </a:extLst>
          </p:cNvPr>
          <p:cNvPicPr preferRelativeResize="0"/>
          <p:nvPr/>
        </p:nvPicPr>
        <p:blipFill rotWithShape="1">
          <a:blip r:embed="rId3">
            <a:alphaModFix/>
          </a:blip>
          <a:srcRect/>
          <a:stretch/>
        </p:blipFill>
        <p:spPr>
          <a:xfrm>
            <a:off x="602457" y="1630263"/>
            <a:ext cx="5381625" cy="2305050"/>
          </a:xfrm>
          <a:prstGeom prst="rect">
            <a:avLst/>
          </a:prstGeom>
          <a:noFill/>
          <a:ln>
            <a:noFill/>
          </a:ln>
        </p:spPr>
      </p:pic>
      <p:pic>
        <p:nvPicPr>
          <p:cNvPr id="30" name="Google Shape;86;p13" descr="image.png">
            <a:extLst>
              <a:ext uri="{FF2B5EF4-FFF2-40B4-BE49-F238E27FC236}">
                <a16:creationId xmlns:a16="http://schemas.microsoft.com/office/drawing/2014/main" id="{1A5E17AD-9EFC-97F8-C046-57E7DA03DB54}"/>
              </a:ext>
            </a:extLst>
          </p:cNvPr>
          <p:cNvPicPr preferRelativeResize="0"/>
          <p:nvPr/>
        </p:nvPicPr>
        <p:blipFill rotWithShape="1">
          <a:blip r:embed="rId3">
            <a:alphaModFix/>
          </a:blip>
          <a:srcRect/>
          <a:stretch/>
        </p:blipFill>
        <p:spPr>
          <a:xfrm>
            <a:off x="6269832" y="1630263"/>
            <a:ext cx="5381625" cy="2305050"/>
          </a:xfrm>
          <a:prstGeom prst="rect">
            <a:avLst/>
          </a:prstGeom>
          <a:noFill/>
          <a:ln>
            <a:noFill/>
          </a:ln>
        </p:spPr>
      </p:pic>
      <p:pic>
        <p:nvPicPr>
          <p:cNvPr id="31" name="Google Shape;87;p13" descr="image.png">
            <a:extLst>
              <a:ext uri="{FF2B5EF4-FFF2-40B4-BE49-F238E27FC236}">
                <a16:creationId xmlns:a16="http://schemas.microsoft.com/office/drawing/2014/main" id="{F543A4D0-97EB-F73C-F327-440581775458}"/>
              </a:ext>
            </a:extLst>
          </p:cNvPr>
          <p:cNvPicPr preferRelativeResize="0"/>
          <p:nvPr/>
        </p:nvPicPr>
        <p:blipFill rotWithShape="1">
          <a:blip r:embed="rId3">
            <a:alphaModFix/>
          </a:blip>
          <a:srcRect/>
          <a:stretch/>
        </p:blipFill>
        <p:spPr>
          <a:xfrm>
            <a:off x="602457" y="3843159"/>
            <a:ext cx="5381625" cy="2305050"/>
          </a:xfrm>
          <a:prstGeom prst="rect">
            <a:avLst/>
          </a:prstGeom>
          <a:noFill/>
          <a:ln>
            <a:noFill/>
          </a:ln>
        </p:spPr>
      </p:pic>
      <p:pic>
        <p:nvPicPr>
          <p:cNvPr id="32" name="Google Shape;88;p13" descr="image.png">
            <a:extLst>
              <a:ext uri="{FF2B5EF4-FFF2-40B4-BE49-F238E27FC236}">
                <a16:creationId xmlns:a16="http://schemas.microsoft.com/office/drawing/2014/main" id="{BACA8FED-B5C5-B300-2B4C-6B3914C71B61}"/>
              </a:ext>
            </a:extLst>
          </p:cNvPr>
          <p:cNvPicPr preferRelativeResize="0"/>
          <p:nvPr/>
        </p:nvPicPr>
        <p:blipFill rotWithShape="1">
          <a:blip r:embed="rId3">
            <a:alphaModFix/>
          </a:blip>
          <a:srcRect/>
          <a:stretch/>
        </p:blipFill>
        <p:spPr>
          <a:xfrm>
            <a:off x="6269832" y="3843159"/>
            <a:ext cx="5381625" cy="2305050"/>
          </a:xfrm>
          <a:prstGeom prst="rect">
            <a:avLst/>
          </a:prstGeom>
          <a:noFill/>
          <a:ln>
            <a:noFill/>
          </a:ln>
        </p:spPr>
      </p:pic>
      <p:sp>
        <p:nvSpPr>
          <p:cNvPr id="33" name="Google Shape;89;p13">
            <a:extLst>
              <a:ext uri="{FF2B5EF4-FFF2-40B4-BE49-F238E27FC236}">
                <a16:creationId xmlns:a16="http://schemas.microsoft.com/office/drawing/2014/main" id="{DDED2EA2-36B5-5782-FC05-1F686C8E47E9}"/>
              </a:ext>
            </a:extLst>
          </p:cNvPr>
          <p:cNvSpPr txBox="1"/>
          <p:nvPr/>
        </p:nvSpPr>
        <p:spPr>
          <a:xfrm>
            <a:off x="945357" y="2735163"/>
            <a:ext cx="4695825"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i="0" u="none" strike="noStrike" cap="none" dirty="0" err="1">
                <a:latin typeface="Times New Roman" panose="02020603050405020304" pitchFamily="18" charset="0"/>
                <a:ea typeface="Urbanist"/>
                <a:cs typeface="Times New Roman" panose="02020603050405020304" pitchFamily="18" charset="0"/>
                <a:sym typeface="Urbanist"/>
              </a:rPr>
              <a:t>Chất lượng nhận diện phụ thuộc ánh sáng, góc quay, khoảng cách và che khuất; cần đánh giá trên dữ liệu có nhãn độc lập.</a:t>
            </a:r>
            <a:endParaRPr sz="1600" dirty="0">
              <a:latin typeface="Times New Roman" panose="02020603050405020304" pitchFamily="18" charset="0"/>
              <a:cs typeface="Times New Roman" panose="02020603050405020304" pitchFamily="18" charset="0"/>
            </a:endParaRPr>
          </a:p>
        </p:txBody>
      </p:sp>
      <p:sp>
        <p:nvSpPr>
          <p:cNvPr id="34" name="Google Shape;90;p13">
            <a:extLst>
              <a:ext uri="{FF2B5EF4-FFF2-40B4-BE49-F238E27FC236}">
                <a16:creationId xmlns:a16="http://schemas.microsoft.com/office/drawing/2014/main" id="{843DA7BB-F6E6-00A2-70C7-AE74A95D4DD7}"/>
              </a:ext>
            </a:extLst>
          </p:cNvPr>
          <p:cNvSpPr txBox="1"/>
          <p:nvPr/>
        </p:nvSpPr>
        <p:spPr>
          <a:xfrm>
            <a:off x="6612732" y="2735163"/>
            <a:ext cx="4695825"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vi-VN" sz="1600" i="0" u="none" strike="noStrike" cap="none" dirty="0">
                <a:latin typeface="Times New Roman" panose="02020603050405020304" pitchFamily="18" charset="0"/>
                <a:ea typeface="Urbanist"/>
                <a:cs typeface="Times New Roman" panose="02020603050405020304" pitchFamily="18" charset="0"/>
                <a:sym typeface="Urbanist"/>
              </a:rPr>
              <a:t>Phiên đo 4 camera kéo dài 79,78 giây; phiên Crowd một camera kéo dài 200 giây. Chưa đại diện cho vận hành dài hạn.</a:t>
            </a:r>
            <a:endParaRPr sz="1600" dirty="0">
              <a:latin typeface="Times New Roman" panose="02020603050405020304" pitchFamily="18" charset="0"/>
              <a:cs typeface="Times New Roman" panose="02020603050405020304" pitchFamily="18" charset="0"/>
            </a:endParaRPr>
          </a:p>
        </p:txBody>
      </p:sp>
      <p:sp>
        <p:nvSpPr>
          <p:cNvPr id="35" name="Google Shape;91;p13">
            <a:extLst>
              <a:ext uri="{FF2B5EF4-FFF2-40B4-BE49-F238E27FC236}">
                <a16:creationId xmlns:a16="http://schemas.microsoft.com/office/drawing/2014/main" id="{A8459C51-C3E5-4C6B-8126-D31369BE198D}"/>
              </a:ext>
            </a:extLst>
          </p:cNvPr>
          <p:cNvSpPr txBox="1"/>
          <p:nvPr/>
        </p:nvSpPr>
        <p:spPr>
          <a:xfrm>
            <a:off x="945357" y="4948059"/>
            <a:ext cx="4695825"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i="0" u="none" strike="noStrike" cap="none" dirty="0" err="1">
                <a:latin typeface="Times New Roman" panose="02020603050405020304" pitchFamily="18" charset="0"/>
                <a:ea typeface="Urbanist"/>
                <a:cs typeface="Times New Roman" panose="02020603050405020304" pitchFamily="18" charset="0"/>
                <a:sym typeface="Urbanist"/>
              </a:rPr>
              <a:t>Chưa đo độ trễ cảnh báo đầu-cuối. ASA phụ thuộc mạng và Gemini API; nội dung sinh cần được người dùng kiểm tra.</a:t>
            </a:r>
            <a:endParaRPr sz="1600" dirty="0">
              <a:latin typeface="Times New Roman" panose="02020603050405020304" pitchFamily="18" charset="0"/>
              <a:cs typeface="Times New Roman" panose="02020603050405020304" pitchFamily="18" charset="0"/>
            </a:endParaRPr>
          </a:p>
        </p:txBody>
      </p:sp>
      <p:sp>
        <p:nvSpPr>
          <p:cNvPr id="36" name="Google Shape;92;p13">
            <a:extLst>
              <a:ext uri="{FF2B5EF4-FFF2-40B4-BE49-F238E27FC236}">
                <a16:creationId xmlns:a16="http://schemas.microsoft.com/office/drawing/2014/main" id="{F8B301FA-FC6A-CFBA-37BC-F3A68A60E82C}"/>
              </a:ext>
            </a:extLst>
          </p:cNvPr>
          <p:cNvSpPr txBox="1"/>
          <p:nvPr/>
        </p:nvSpPr>
        <p:spPr>
          <a:xfrm>
            <a:off x="6612732" y="4948059"/>
            <a:ext cx="4695825" cy="147732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vi-VN" sz="1600" i="0" u="none" strike="noStrike" cap="none" dirty="0">
                <a:latin typeface="Times New Roman" panose="02020603050405020304" pitchFamily="18" charset="0"/>
                <a:ea typeface="Urbanist"/>
                <a:cs typeface="Times New Roman" panose="02020603050405020304" pitchFamily="18" charset="0"/>
                <a:sym typeface="Urbanist"/>
              </a:rPr>
              <a:t>Cần kiểm soát quyền truy cập ảnh và danh tính, xác định thời hạn lưu, cơ chế xóa và phạm vi đồng ý trước triển khai.</a:t>
            </a:r>
            <a:endParaRPr sz="1600" dirty="0">
              <a:latin typeface="Times New Roman" panose="02020603050405020304" pitchFamily="18" charset="0"/>
              <a:cs typeface="Times New Roman" panose="02020603050405020304" pitchFamily="18" charset="0"/>
            </a:endParaRPr>
          </a:p>
        </p:txBody>
      </p:sp>
      <p:pic>
        <p:nvPicPr>
          <p:cNvPr id="37" name="Google Shape;93;p13" descr="image.png">
            <a:extLst>
              <a:ext uri="{FF2B5EF4-FFF2-40B4-BE49-F238E27FC236}">
                <a16:creationId xmlns:a16="http://schemas.microsoft.com/office/drawing/2014/main" id="{54DAA8FD-6F4D-DDDF-4DE3-EEB5276749D9}"/>
              </a:ext>
            </a:extLst>
          </p:cNvPr>
          <p:cNvPicPr preferRelativeResize="0"/>
          <p:nvPr/>
        </p:nvPicPr>
        <p:blipFill rotWithShape="1">
          <a:blip r:embed="rId4">
            <a:alphaModFix/>
          </a:blip>
          <a:srcRect/>
          <a:stretch/>
        </p:blipFill>
        <p:spPr>
          <a:xfrm>
            <a:off x="945357" y="1973163"/>
            <a:ext cx="571500" cy="571500"/>
          </a:xfrm>
          <a:prstGeom prst="rect">
            <a:avLst/>
          </a:prstGeom>
          <a:solidFill>
            <a:schemeClr val="tx1">
              <a:lumMod val="85000"/>
              <a:lumOff val="15000"/>
            </a:schemeClr>
          </a:solidFill>
          <a:ln>
            <a:noFill/>
          </a:ln>
        </p:spPr>
      </p:pic>
      <p:sp>
        <p:nvSpPr>
          <p:cNvPr id="38" name="Google Shape;94;p13">
            <a:extLst>
              <a:ext uri="{FF2B5EF4-FFF2-40B4-BE49-F238E27FC236}">
                <a16:creationId xmlns:a16="http://schemas.microsoft.com/office/drawing/2014/main" id="{4D20CEBD-F3D6-B79E-50BD-765349934965}"/>
              </a:ext>
            </a:extLst>
          </p:cNvPr>
          <p:cNvSpPr txBox="1"/>
          <p:nvPr/>
        </p:nvSpPr>
        <p:spPr>
          <a:xfrm>
            <a:off x="1707357" y="2106513"/>
            <a:ext cx="251047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Điều</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kiện</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môi</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trường</a:t>
            </a:r>
            <a:endParaRPr b="1" dirty="0">
              <a:latin typeface="Times New Roman" panose="02020603050405020304" pitchFamily="18" charset="0"/>
              <a:cs typeface="Times New Roman" panose="02020603050405020304" pitchFamily="18" charset="0"/>
            </a:endParaRPr>
          </a:p>
        </p:txBody>
      </p:sp>
      <p:pic>
        <p:nvPicPr>
          <p:cNvPr id="39" name="Google Shape;95;p13" descr="image.png">
            <a:extLst>
              <a:ext uri="{FF2B5EF4-FFF2-40B4-BE49-F238E27FC236}">
                <a16:creationId xmlns:a16="http://schemas.microsoft.com/office/drawing/2014/main" id="{6458B6FD-09DA-1480-FA30-B62C5975B400}"/>
              </a:ext>
            </a:extLst>
          </p:cNvPr>
          <p:cNvPicPr preferRelativeResize="0"/>
          <p:nvPr/>
        </p:nvPicPr>
        <p:blipFill rotWithShape="1">
          <a:blip r:embed="rId5">
            <a:alphaModFix/>
          </a:blip>
          <a:srcRect/>
          <a:stretch/>
        </p:blipFill>
        <p:spPr>
          <a:xfrm>
            <a:off x="6612732" y="1973163"/>
            <a:ext cx="571500" cy="571500"/>
          </a:xfrm>
          <a:prstGeom prst="rect">
            <a:avLst/>
          </a:prstGeom>
          <a:solidFill>
            <a:schemeClr val="tx1">
              <a:lumMod val="85000"/>
              <a:lumOff val="15000"/>
            </a:schemeClr>
          </a:solidFill>
          <a:ln>
            <a:noFill/>
          </a:ln>
        </p:spPr>
      </p:pic>
      <p:sp>
        <p:nvSpPr>
          <p:cNvPr id="40" name="Google Shape;96;p13">
            <a:extLst>
              <a:ext uri="{FF2B5EF4-FFF2-40B4-BE49-F238E27FC236}">
                <a16:creationId xmlns:a16="http://schemas.microsoft.com/office/drawing/2014/main" id="{3CBAD001-37CA-C544-40A3-E0BF04FE94AC}"/>
              </a:ext>
            </a:extLst>
          </p:cNvPr>
          <p:cNvSpPr txBox="1"/>
          <p:nvPr/>
        </p:nvSpPr>
        <p:spPr>
          <a:xfrm>
            <a:off x="7374732" y="2106513"/>
            <a:ext cx="3267868"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Phạm vi thực nghiệm</a:t>
            </a:r>
            <a:endParaRPr b="1" dirty="0">
              <a:latin typeface="Times New Roman" panose="02020603050405020304" pitchFamily="18" charset="0"/>
              <a:cs typeface="Times New Roman" panose="02020603050405020304" pitchFamily="18" charset="0"/>
            </a:endParaRPr>
          </a:p>
        </p:txBody>
      </p:sp>
      <p:pic>
        <p:nvPicPr>
          <p:cNvPr id="41" name="Google Shape;97;p13" descr="image.png">
            <a:extLst>
              <a:ext uri="{FF2B5EF4-FFF2-40B4-BE49-F238E27FC236}">
                <a16:creationId xmlns:a16="http://schemas.microsoft.com/office/drawing/2014/main" id="{D42AEB4F-6E2B-9AEB-1F5D-307F7416776B}"/>
              </a:ext>
            </a:extLst>
          </p:cNvPr>
          <p:cNvPicPr preferRelativeResize="0"/>
          <p:nvPr/>
        </p:nvPicPr>
        <p:blipFill rotWithShape="1">
          <a:blip r:embed="rId6">
            <a:alphaModFix/>
          </a:blip>
          <a:srcRect/>
          <a:stretch/>
        </p:blipFill>
        <p:spPr>
          <a:xfrm>
            <a:off x="945357" y="4186059"/>
            <a:ext cx="571500" cy="571500"/>
          </a:xfrm>
          <a:prstGeom prst="rect">
            <a:avLst/>
          </a:prstGeom>
          <a:solidFill>
            <a:schemeClr val="tx1">
              <a:lumMod val="85000"/>
              <a:lumOff val="15000"/>
            </a:schemeClr>
          </a:solidFill>
          <a:ln>
            <a:noFill/>
          </a:ln>
        </p:spPr>
      </p:pic>
      <p:sp>
        <p:nvSpPr>
          <p:cNvPr id="42" name="Google Shape;98;p13">
            <a:extLst>
              <a:ext uri="{FF2B5EF4-FFF2-40B4-BE49-F238E27FC236}">
                <a16:creationId xmlns:a16="http://schemas.microsoft.com/office/drawing/2014/main" id="{F2ACA2A7-D2B6-675A-8685-D90A3804357A}"/>
              </a:ext>
            </a:extLst>
          </p:cNvPr>
          <p:cNvSpPr txBox="1"/>
          <p:nvPr/>
        </p:nvSpPr>
        <p:spPr>
          <a:xfrm>
            <a:off x="1707357" y="4319409"/>
            <a:ext cx="186492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Độ</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trễ</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hệ</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thống</a:t>
            </a:r>
            <a:endParaRPr b="1" dirty="0">
              <a:latin typeface="Times New Roman" panose="02020603050405020304" pitchFamily="18" charset="0"/>
              <a:cs typeface="Times New Roman" panose="02020603050405020304" pitchFamily="18" charset="0"/>
            </a:endParaRPr>
          </a:p>
        </p:txBody>
      </p:sp>
      <p:pic>
        <p:nvPicPr>
          <p:cNvPr id="43" name="Google Shape;99;p13" descr="image.png">
            <a:extLst>
              <a:ext uri="{FF2B5EF4-FFF2-40B4-BE49-F238E27FC236}">
                <a16:creationId xmlns:a16="http://schemas.microsoft.com/office/drawing/2014/main" id="{B54818D5-1599-FC7B-D4A7-03B38FC11596}"/>
              </a:ext>
            </a:extLst>
          </p:cNvPr>
          <p:cNvPicPr preferRelativeResize="0"/>
          <p:nvPr/>
        </p:nvPicPr>
        <p:blipFill rotWithShape="1">
          <a:blip r:embed="rId7">
            <a:alphaModFix/>
          </a:blip>
          <a:srcRect/>
          <a:stretch/>
        </p:blipFill>
        <p:spPr>
          <a:xfrm>
            <a:off x="6612732" y="4186059"/>
            <a:ext cx="571500" cy="571500"/>
          </a:xfrm>
          <a:prstGeom prst="rect">
            <a:avLst/>
          </a:prstGeom>
          <a:solidFill>
            <a:schemeClr val="tx1">
              <a:lumMod val="85000"/>
              <a:lumOff val="15000"/>
            </a:schemeClr>
          </a:solidFill>
          <a:ln>
            <a:noFill/>
          </a:ln>
        </p:spPr>
      </p:pic>
      <p:sp>
        <p:nvSpPr>
          <p:cNvPr id="44" name="Google Shape;100;p13">
            <a:extLst>
              <a:ext uri="{FF2B5EF4-FFF2-40B4-BE49-F238E27FC236}">
                <a16:creationId xmlns:a16="http://schemas.microsoft.com/office/drawing/2014/main" id="{FEB16372-29A4-B9B9-20C7-D0C61B7C8FAD}"/>
              </a:ext>
            </a:extLst>
          </p:cNvPr>
          <p:cNvSpPr txBox="1"/>
          <p:nvPr/>
        </p:nvSpPr>
        <p:spPr>
          <a:xfrm>
            <a:off x="7374732" y="4319409"/>
            <a:ext cx="1803194"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Quyền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riêng</a:t>
            </a:r>
            <a:r>
              <a:rPr lang="en-US" b="1" i="0" u="none" strike="noStrike" cap="none" dirty="0">
                <a:latin typeface="Times New Roman" panose="02020603050405020304" pitchFamily="18" charset="0"/>
                <a:ea typeface="Urbanist SemiBold"/>
                <a:cs typeface="Times New Roman" panose="02020603050405020304" pitchFamily="18" charset="0"/>
                <a:sym typeface="Urbanist SemiBold"/>
              </a:rPr>
              <a:t> </a:t>
            </a:r>
            <a:r>
              <a:rPr lang="en-US" b="1" i="0" u="none" strike="noStrike" cap="none" dirty="0" err="1">
                <a:latin typeface="Times New Roman" panose="02020603050405020304" pitchFamily="18" charset="0"/>
                <a:ea typeface="Urbanist SemiBold"/>
                <a:cs typeface="Times New Roman" panose="02020603050405020304" pitchFamily="18" charset="0"/>
                <a:sym typeface="Urbanist SemiBold"/>
              </a:rPr>
              <a:t>tư</a:t>
            </a:r>
            <a:endParaRPr b="1" dirty="0">
              <a:latin typeface="Times New Roman" panose="02020603050405020304" pitchFamily="18" charset="0"/>
              <a:cs typeface="Times New Roman" panose="02020603050405020304" pitchFamily="18" charset="0"/>
            </a:endParaRPr>
          </a:p>
        </p:txBody>
      </p:sp>
      <p:sp>
        <p:nvSpPr>
          <p:cNvPr id="45" name="Google Shape;101;p13">
            <a:extLst>
              <a:ext uri="{FF2B5EF4-FFF2-40B4-BE49-F238E27FC236}">
                <a16:creationId xmlns:a16="http://schemas.microsoft.com/office/drawing/2014/main" id="{78C29FFB-D279-92BE-360F-65CE122D55FE}"/>
              </a:ext>
            </a:extLst>
          </p:cNvPr>
          <p:cNvSpPr txBox="1"/>
          <p:nvPr/>
        </p:nvSpPr>
        <p:spPr>
          <a:xfrm>
            <a:off x="840582" y="563463"/>
            <a:ext cx="11351418"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900" b="1" dirty="0">
                <a:latin typeface="Times New Roman" panose="02020603050405020304" pitchFamily="18" charset="0"/>
                <a:ea typeface="Urbanist"/>
                <a:cs typeface="Times New Roman" panose="02020603050405020304" pitchFamily="18" charset="0"/>
                <a:sym typeface="Urbanist"/>
              </a:rPr>
              <a:t>H</a:t>
            </a:r>
            <a:r>
              <a:rPr lang="en-US" sz="3900" b="1" i="0" u="none" strike="noStrike" cap="none" dirty="0" err="1">
                <a:latin typeface="Times New Roman" panose="02020603050405020304" pitchFamily="18" charset="0"/>
                <a:ea typeface="Urbanist"/>
                <a:cs typeface="Times New Roman" panose="02020603050405020304" pitchFamily="18" charset="0"/>
                <a:sym typeface="Urbanist"/>
              </a:rPr>
              <a:t>ạn</a:t>
            </a:r>
            <a:r>
              <a:rPr lang="en-US" sz="3900" b="1" i="0" u="none" strike="noStrike" cap="none" dirty="0">
                <a:latin typeface="Times New Roman" panose="02020603050405020304" pitchFamily="18" charset="0"/>
                <a:ea typeface="Urbanist"/>
                <a:cs typeface="Times New Roman" panose="02020603050405020304" pitchFamily="18" charset="0"/>
                <a:sym typeface="Urbanist"/>
              </a:rPr>
              <a:t> </a:t>
            </a:r>
            <a:r>
              <a:rPr lang="en-US" sz="3900" b="1" i="0" u="none" strike="noStrike" cap="none" dirty="0" err="1">
                <a:latin typeface="Times New Roman" panose="02020603050405020304" pitchFamily="18" charset="0"/>
                <a:ea typeface="Urbanist"/>
                <a:cs typeface="Times New Roman" panose="02020603050405020304" pitchFamily="18" charset="0"/>
                <a:sym typeface="Urbanist"/>
              </a:rPr>
              <a:t>chế</a:t>
            </a:r>
            <a:r>
              <a:rPr lang="en-US" sz="3900" b="1" i="0" u="none" strike="noStrike" cap="none" dirty="0">
                <a:latin typeface="Times New Roman" panose="02020603050405020304" pitchFamily="18" charset="0"/>
                <a:ea typeface="Urbanist"/>
                <a:cs typeface="Times New Roman" panose="02020603050405020304" pitchFamily="18" charset="0"/>
                <a:sym typeface="Urbanist"/>
              </a:rPr>
              <a:t> </a:t>
            </a:r>
            <a:r>
              <a:rPr lang="en-US" sz="3900" b="1" i="0" u="none" strike="noStrike" cap="none" dirty="0" err="1">
                <a:latin typeface="Times New Roman" panose="02020603050405020304" pitchFamily="18" charset="0"/>
                <a:ea typeface="Urbanist"/>
                <a:cs typeface="Times New Roman" panose="02020603050405020304" pitchFamily="18" charset="0"/>
                <a:sym typeface="Urbanist"/>
              </a:rPr>
              <a:t>của</a:t>
            </a:r>
            <a:r>
              <a:rPr lang="en-US" sz="3900" b="1" i="0" u="none" strike="noStrike" cap="none" dirty="0">
                <a:latin typeface="Times New Roman" panose="02020603050405020304" pitchFamily="18" charset="0"/>
                <a:ea typeface="Urbanist"/>
                <a:cs typeface="Times New Roman" panose="02020603050405020304" pitchFamily="18" charset="0"/>
                <a:sym typeface="Urbanist"/>
              </a:rPr>
              <a:t> </a:t>
            </a:r>
            <a:r>
              <a:rPr lang="en-US" sz="3900" b="1" i="0" u="none" strike="noStrike" cap="none" dirty="0" err="1">
                <a:latin typeface="Times New Roman" panose="02020603050405020304" pitchFamily="18" charset="0"/>
                <a:ea typeface="Urbanist"/>
                <a:cs typeface="Times New Roman" panose="02020603050405020304" pitchFamily="18" charset="0"/>
                <a:sym typeface="Urbanist"/>
              </a:rPr>
              <a:t>hệ</a:t>
            </a:r>
            <a:r>
              <a:rPr lang="en-US" sz="3900" b="1" i="0" u="none" strike="noStrike" cap="none" dirty="0">
                <a:latin typeface="Times New Roman" panose="02020603050405020304" pitchFamily="18" charset="0"/>
                <a:ea typeface="Urbanist"/>
                <a:cs typeface="Times New Roman" panose="02020603050405020304" pitchFamily="18" charset="0"/>
                <a:sym typeface="Urbanist"/>
              </a:rPr>
              <a:t> </a:t>
            </a:r>
            <a:r>
              <a:rPr lang="en-US" sz="3900" b="1" i="0" u="none" strike="noStrike" cap="none" dirty="0" err="1">
                <a:latin typeface="Times New Roman" panose="02020603050405020304" pitchFamily="18" charset="0"/>
                <a:ea typeface="Urbanist"/>
                <a:cs typeface="Times New Roman" panose="02020603050405020304" pitchFamily="18" charset="0"/>
                <a:sym typeface="Urbanist"/>
              </a:rPr>
              <a:t>thống</a:t>
            </a:r>
            <a:endParaRPr dirty="0">
              <a:latin typeface="Times New Roman" panose="02020603050405020304" pitchFamily="18" charset="0"/>
              <a:cs typeface="Times New Roman" panose="02020603050405020304" pitchFamily="18" charset="0"/>
            </a:endParaRPr>
          </a:p>
        </p:txBody>
      </p:sp>
      <p:sp>
        <p:nvSpPr>
          <p:cNvPr id="46" name="Google Shape;102;p13">
            <a:extLst>
              <a:ext uri="{FF2B5EF4-FFF2-40B4-BE49-F238E27FC236}">
                <a16:creationId xmlns:a16="http://schemas.microsoft.com/office/drawing/2014/main" id="{C7A215FA-1FE5-394B-E78E-7262962EA093}"/>
              </a:ext>
            </a:extLst>
          </p:cNvPr>
          <p:cNvSpPr/>
          <p:nvPr/>
        </p:nvSpPr>
        <p:spPr>
          <a:xfrm>
            <a:off x="602457" y="563463"/>
            <a:ext cx="57150" cy="590550"/>
          </a:xfrm>
          <a:prstGeom prst="rect">
            <a:avLst/>
          </a:prstGeom>
          <a:solidFill>
            <a:schemeClr val="tx1">
              <a:lumMod val="85000"/>
              <a:lumOff val="1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731833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D1D7E-D313-D5CF-8477-36CA398FB41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E798419-3173-AFE5-33AF-5323F2E4D979}"/>
              </a:ext>
            </a:extLst>
          </p:cNvPr>
          <p:cNvGrpSpPr/>
          <p:nvPr/>
        </p:nvGrpSpPr>
        <p:grpSpPr>
          <a:xfrm>
            <a:off x="863442" y="2006601"/>
            <a:ext cx="11055525" cy="1008614"/>
            <a:chOff x="921187" y="2591276"/>
            <a:chExt cx="13497868" cy="883319"/>
          </a:xfrm>
        </p:grpSpPr>
        <p:sp>
          <p:nvSpPr>
            <p:cNvPr id="18" name="Shape 3">
              <a:extLst>
                <a:ext uri="{FF2B5EF4-FFF2-40B4-BE49-F238E27FC236}">
                  <a16:creationId xmlns:a16="http://schemas.microsoft.com/office/drawing/2014/main" id="{9C5F7E3F-04EC-A2C7-F24F-FEC1B11ACB55}"/>
                </a:ext>
              </a:extLst>
            </p:cNvPr>
            <p:cNvSpPr/>
            <p:nvPr/>
          </p:nvSpPr>
          <p:spPr>
            <a:xfrm>
              <a:off x="921187" y="2591276"/>
              <a:ext cx="12833747" cy="878174"/>
            </a:xfrm>
            <a:prstGeom prst="rect">
              <a:avLst/>
            </a:prstGeom>
            <a:ln/>
          </p:spPr>
          <p:style>
            <a:lnRef idx="2">
              <a:schemeClr val="dk1"/>
            </a:lnRef>
            <a:fillRef idx="1">
              <a:schemeClr val="lt1"/>
            </a:fillRef>
            <a:effectRef idx="0">
              <a:schemeClr val="dk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sz="2000"/>
            </a:p>
          </p:txBody>
        </p:sp>
        <p:sp>
          <p:nvSpPr>
            <p:cNvPr id="19" name="Text 4">
              <a:extLst>
                <a:ext uri="{FF2B5EF4-FFF2-40B4-BE49-F238E27FC236}">
                  <a16:creationId xmlns:a16="http://schemas.microsoft.com/office/drawing/2014/main" id="{F1A29676-C705-9C9A-CE5B-7D6FE5A6F990}"/>
                </a:ext>
              </a:extLst>
            </p:cNvPr>
            <p:cNvSpPr/>
            <p:nvPr/>
          </p:nvSpPr>
          <p:spPr>
            <a:xfrm>
              <a:off x="1078349" y="2756059"/>
              <a:ext cx="2153126" cy="269081"/>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00"/>
                </a:lnSpc>
                <a:buNone/>
              </a:pPr>
              <a:r>
                <a:rPr lang="vi-VN" b="1" dirty="0">
                  <a:latin typeface="Roboto Bold" pitchFamily="34" charset="0"/>
                  <a:ea typeface="Roboto Bold" pitchFamily="34" charset="-122"/>
                  <a:cs typeface="Roboto Bold" pitchFamily="34" charset="-120"/>
                </a:rPr>
                <a:t>1. Chuẩn hóa dữ liệu và đánh giá:</a:t>
              </a:r>
              <a:endParaRPr lang="en-US" dirty="0"/>
            </a:p>
          </p:txBody>
        </p:sp>
        <p:sp>
          <p:nvSpPr>
            <p:cNvPr id="20" name="Text 5">
              <a:extLst>
                <a:ext uri="{FF2B5EF4-FFF2-40B4-BE49-F238E27FC236}">
                  <a16:creationId xmlns:a16="http://schemas.microsoft.com/office/drawing/2014/main" id="{C32FEEB5-472C-B05E-CDDE-681DA4DB0878}"/>
                </a:ext>
              </a:extLst>
            </p:cNvPr>
            <p:cNvSpPr/>
            <p:nvPr/>
          </p:nvSpPr>
          <p:spPr>
            <a:xfrm>
              <a:off x="1226626" y="3095037"/>
              <a:ext cx="13192429" cy="379558"/>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vi-VN" sz="1400" dirty="0">
                  <a:latin typeface="Roboto" pitchFamily="34" charset="0"/>
                  <a:ea typeface="Roboto" pitchFamily="34" charset="-122"/>
                  <a:cs typeface="Roboto" pitchFamily="34" charset="-120"/>
                </a:rPr>
                <a:t>Bổ sung dữ liệu thực tế; tách Train/Validation/Test theo clip hoặc phiên ghi hình. Đánh giá mô hình và đo lặp hiệu năng, </a:t>
              </a:r>
            </a:p>
            <a:p>
              <a:pPr marL="0" indent="0" algn="l">
                <a:lnSpc>
                  <a:spcPts val="1350"/>
                </a:lnSpc>
                <a:buNone/>
              </a:pPr>
              <a:r>
                <a:rPr lang="vi-VN" sz="1400" dirty="0">
                  <a:latin typeface="Roboto" pitchFamily="34" charset="0"/>
                  <a:ea typeface="Roboto" pitchFamily="34" charset="-122"/>
                  <a:cs typeface="Roboto" pitchFamily="34" charset="-120"/>
                </a:rPr>
                <a:t>độ trễ cảnh báo.</a:t>
              </a:r>
            </a:p>
          </p:txBody>
        </p:sp>
      </p:grpSp>
      <p:grpSp>
        <p:nvGrpSpPr>
          <p:cNvPr id="4" name="Group 3">
            <a:extLst>
              <a:ext uri="{FF2B5EF4-FFF2-40B4-BE49-F238E27FC236}">
                <a16:creationId xmlns:a16="http://schemas.microsoft.com/office/drawing/2014/main" id="{28594D3B-8C83-BF2F-823F-D813D9E0D582}"/>
              </a:ext>
            </a:extLst>
          </p:cNvPr>
          <p:cNvGrpSpPr/>
          <p:nvPr/>
        </p:nvGrpSpPr>
        <p:grpSpPr>
          <a:xfrm>
            <a:off x="863442" y="3232585"/>
            <a:ext cx="10511572" cy="1002739"/>
            <a:chOff x="921187" y="3649504"/>
            <a:chExt cx="12833747" cy="878175"/>
          </a:xfrm>
        </p:grpSpPr>
        <p:sp>
          <p:nvSpPr>
            <p:cNvPr id="13" name="Shape 6">
              <a:extLst>
                <a:ext uri="{FF2B5EF4-FFF2-40B4-BE49-F238E27FC236}">
                  <a16:creationId xmlns:a16="http://schemas.microsoft.com/office/drawing/2014/main" id="{8BB4892B-0068-97D4-EC2F-DB3A813BC7B2}"/>
                </a:ext>
              </a:extLst>
            </p:cNvPr>
            <p:cNvSpPr/>
            <p:nvPr/>
          </p:nvSpPr>
          <p:spPr>
            <a:xfrm>
              <a:off x="921187" y="3649504"/>
              <a:ext cx="12833747" cy="878175"/>
            </a:xfrm>
            <a:prstGeom prst="rect">
              <a:avLst/>
            </a:prstGeom>
            <a:ln/>
          </p:spPr>
          <p:style>
            <a:lnRef idx="2">
              <a:schemeClr val="dk1"/>
            </a:lnRef>
            <a:fillRef idx="1">
              <a:schemeClr val="lt1"/>
            </a:fillRef>
            <a:effectRef idx="0">
              <a:schemeClr val="dk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sz="2000"/>
            </a:p>
          </p:txBody>
        </p:sp>
        <p:sp>
          <p:nvSpPr>
            <p:cNvPr id="14" name="Text 7">
              <a:extLst>
                <a:ext uri="{FF2B5EF4-FFF2-40B4-BE49-F238E27FC236}">
                  <a16:creationId xmlns:a16="http://schemas.microsoft.com/office/drawing/2014/main" id="{50177D27-0796-A1A0-E12F-78A9EEB42A35}"/>
                </a:ext>
              </a:extLst>
            </p:cNvPr>
            <p:cNvSpPr/>
            <p:nvPr/>
          </p:nvSpPr>
          <p:spPr>
            <a:xfrm>
              <a:off x="1078349" y="3814286"/>
              <a:ext cx="2153126" cy="269081"/>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00"/>
                </a:lnSpc>
                <a:buNone/>
              </a:pPr>
              <a:r>
                <a:rPr lang="en-US" b="1" dirty="0">
                  <a:latin typeface="Roboto Bold" pitchFamily="34" charset="0"/>
                  <a:ea typeface="Roboto Bold" pitchFamily="34" charset="-122"/>
                  <a:cs typeface="Roboto Bold" pitchFamily="34" charset="-120"/>
                </a:rPr>
                <a:t>2. Hoàn thiện nghiệp vụ và trợ lý ASA:</a:t>
              </a:r>
              <a:endParaRPr lang="en-US" dirty="0"/>
            </a:p>
          </p:txBody>
        </p:sp>
        <p:sp>
          <p:nvSpPr>
            <p:cNvPr id="17" name="Text 8">
              <a:extLst>
                <a:ext uri="{FF2B5EF4-FFF2-40B4-BE49-F238E27FC236}">
                  <a16:creationId xmlns:a16="http://schemas.microsoft.com/office/drawing/2014/main" id="{856556DF-513A-E4FD-71A0-871E01C66456}"/>
                </a:ext>
              </a:extLst>
            </p:cNvPr>
            <p:cNvSpPr/>
            <p:nvPr/>
          </p:nvSpPr>
          <p:spPr>
            <a:xfrm>
              <a:off x="1226626" y="4150085"/>
              <a:ext cx="12206650" cy="269081"/>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vi-VN" sz="1400" dirty="0">
                  <a:latin typeface="Roboto" pitchFamily="34" charset="0"/>
                  <a:ea typeface="Roboto" pitchFamily="34" charset="-122"/>
                  <a:cs typeface="Roboto" pitchFamily="34" charset="-120"/>
                </a:rPr>
                <a:t>Phát triển quản lý, phân công và bàn giao ca trực. Xây dựng bộ câu hỏi đánh giá ASA; nghiên cứu embedding, </a:t>
              </a:r>
            </a:p>
            <a:p>
              <a:pPr marL="0" indent="0" algn="l">
                <a:lnSpc>
                  <a:spcPts val="1350"/>
                </a:lnSpc>
                <a:buNone/>
              </a:pPr>
              <a:r>
                <a:rPr lang="vi-VN" sz="1400" dirty="0">
                  <a:latin typeface="Roboto" pitchFamily="34" charset="0"/>
                  <a:ea typeface="Roboto" pitchFamily="34" charset="-122"/>
                  <a:cs typeface="Roboto" pitchFamily="34" charset="-120"/>
                </a:rPr>
                <a:t>vector database và RAG.</a:t>
              </a:r>
            </a:p>
          </p:txBody>
        </p:sp>
      </p:grpSp>
      <p:grpSp>
        <p:nvGrpSpPr>
          <p:cNvPr id="5" name="Group 4">
            <a:extLst>
              <a:ext uri="{FF2B5EF4-FFF2-40B4-BE49-F238E27FC236}">
                <a16:creationId xmlns:a16="http://schemas.microsoft.com/office/drawing/2014/main" id="{81CA4B58-2839-BD6E-FA1C-F2B4CCE4463F}"/>
              </a:ext>
            </a:extLst>
          </p:cNvPr>
          <p:cNvGrpSpPr/>
          <p:nvPr/>
        </p:nvGrpSpPr>
        <p:grpSpPr>
          <a:xfrm>
            <a:off x="886304" y="4441502"/>
            <a:ext cx="10511572" cy="1002739"/>
            <a:chOff x="921187" y="4707731"/>
            <a:chExt cx="12833747" cy="838200"/>
          </a:xfrm>
        </p:grpSpPr>
        <p:sp>
          <p:nvSpPr>
            <p:cNvPr id="10" name="Shape 9">
              <a:extLst>
                <a:ext uri="{FF2B5EF4-FFF2-40B4-BE49-F238E27FC236}">
                  <a16:creationId xmlns:a16="http://schemas.microsoft.com/office/drawing/2014/main" id="{CA4BFEF5-8073-E5F9-39F8-F5D1542F3052}"/>
                </a:ext>
              </a:extLst>
            </p:cNvPr>
            <p:cNvSpPr/>
            <p:nvPr/>
          </p:nvSpPr>
          <p:spPr>
            <a:xfrm>
              <a:off x="921187" y="4707731"/>
              <a:ext cx="12833747" cy="838200"/>
            </a:xfrm>
            <a:prstGeom prst="rect">
              <a:avLst/>
            </a:prstGeom>
            <a:ln/>
          </p:spPr>
          <p:style>
            <a:lnRef idx="2">
              <a:schemeClr val="dk1"/>
            </a:lnRef>
            <a:fillRef idx="1">
              <a:schemeClr val="lt1"/>
            </a:fillRef>
            <a:effectRef idx="0">
              <a:schemeClr val="dk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sz="2000"/>
            </a:p>
          </p:txBody>
        </p:sp>
        <p:sp>
          <p:nvSpPr>
            <p:cNvPr id="11" name="Text 10">
              <a:extLst>
                <a:ext uri="{FF2B5EF4-FFF2-40B4-BE49-F238E27FC236}">
                  <a16:creationId xmlns:a16="http://schemas.microsoft.com/office/drawing/2014/main" id="{7C15D7D6-98A7-00DA-E8BF-72E1762D13C0}"/>
                </a:ext>
              </a:extLst>
            </p:cNvPr>
            <p:cNvSpPr/>
            <p:nvPr/>
          </p:nvSpPr>
          <p:spPr>
            <a:xfrm>
              <a:off x="1078349" y="4872514"/>
              <a:ext cx="2153126" cy="269081"/>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00"/>
                </a:lnSpc>
                <a:buNone/>
              </a:pPr>
              <a:r>
                <a:rPr lang="en-US" b="1" dirty="0">
                  <a:latin typeface="Roboto Bold" pitchFamily="34" charset="0"/>
                  <a:ea typeface="Roboto Bold" pitchFamily="34" charset="-122"/>
                  <a:cs typeface="Roboto Bold" pitchFamily="34" charset="-120"/>
                </a:rPr>
                <a:t>3. Thử nghiệm tại trường học:</a:t>
              </a:r>
              <a:endParaRPr lang="en-US" dirty="0"/>
            </a:p>
          </p:txBody>
        </p:sp>
        <p:sp>
          <p:nvSpPr>
            <p:cNvPr id="12" name="Text 11">
              <a:extLst>
                <a:ext uri="{FF2B5EF4-FFF2-40B4-BE49-F238E27FC236}">
                  <a16:creationId xmlns:a16="http://schemas.microsoft.com/office/drawing/2014/main" id="{7BBDA571-CE61-B431-76B8-94A15D646AC8}"/>
                </a:ext>
              </a:extLst>
            </p:cNvPr>
            <p:cNvSpPr/>
            <p:nvPr/>
          </p:nvSpPr>
          <p:spPr>
            <a:xfrm>
              <a:off x="1198713" y="5141595"/>
              <a:ext cx="12235844" cy="362843"/>
            </a:xfrm>
            <a:prstGeom prst="rect">
              <a:avLst/>
            </a:prstGeom>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vi-VN" sz="1400" dirty="0">
                  <a:latin typeface="Roboto" pitchFamily="34" charset="0"/>
                  <a:ea typeface="Roboto" pitchFamily="34" charset="-122"/>
                  <a:cs typeface="Roboto" pitchFamily="34" charset="-120"/>
                </a:rPr>
                <a:t>Kết nối camera IP/RTSP thực tế; đánh giá bốn nhóm nhận diện trong điều kiện khó. Hoàn thiện bảo mật, quyền riêng tư và </a:t>
              </a:r>
            </a:p>
            <a:p>
              <a:pPr marL="0" indent="0" algn="l">
                <a:lnSpc>
                  <a:spcPts val="1350"/>
                </a:lnSpc>
                <a:buNone/>
              </a:pPr>
              <a:r>
                <a:rPr lang="vi-VN" sz="1400" dirty="0">
                  <a:latin typeface="Roboto" pitchFamily="34" charset="0"/>
                  <a:ea typeface="Roboto" pitchFamily="34" charset="-122"/>
                  <a:cs typeface="Roboto" pitchFamily="34" charset="-120"/>
                </a:rPr>
                <a:t>triển khai thí điểm.</a:t>
              </a:r>
            </a:p>
          </p:txBody>
        </p:sp>
      </p:grpSp>
      <p:sp>
        <p:nvSpPr>
          <p:cNvPr id="2" name="Shape 2">
            <a:extLst>
              <a:ext uri="{FF2B5EF4-FFF2-40B4-BE49-F238E27FC236}">
                <a16:creationId xmlns:a16="http://schemas.microsoft.com/office/drawing/2014/main" id="{A46CBF12-1F33-14F7-3EEF-6382347CF07F}"/>
              </a:ext>
            </a:extLst>
          </p:cNvPr>
          <p:cNvSpPr/>
          <p:nvPr/>
        </p:nvSpPr>
        <p:spPr>
          <a:xfrm>
            <a:off x="840582" y="1998244"/>
            <a:ext cx="76980" cy="3445997"/>
          </a:xfrm>
          <a:prstGeom prst="roundRect">
            <a:avLst>
              <a:gd name="adj" fmla="val 288842"/>
            </a:avLst>
          </a:prstGeom>
          <a:solidFill>
            <a:srgbClr val="FF0000"/>
          </a:solidFill>
          <a:ln/>
        </p:spPr>
        <p:style>
          <a:lnRef idx="1">
            <a:schemeClr val="accent1"/>
          </a:lnRef>
          <a:fillRef idx="2">
            <a:schemeClr val="accent1"/>
          </a:fillRef>
          <a:effectRef idx="1">
            <a:schemeClr val="accent1"/>
          </a:effectRef>
          <a:fontRef idx="minor">
            <a:schemeClr val="dk1"/>
          </a:fontRef>
        </p:style>
        <p:txBody>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vi-VN"/>
          </a:p>
        </p:txBody>
      </p:sp>
      <p:sp>
        <p:nvSpPr>
          <p:cNvPr id="21" name="Google Shape;101;p13">
            <a:extLst>
              <a:ext uri="{FF2B5EF4-FFF2-40B4-BE49-F238E27FC236}">
                <a16:creationId xmlns:a16="http://schemas.microsoft.com/office/drawing/2014/main" id="{9FEA16A5-6EC4-1FE9-066B-3DDD1E746D3F}"/>
              </a:ext>
            </a:extLst>
          </p:cNvPr>
          <p:cNvSpPr txBox="1"/>
          <p:nvPr/>
        </p:nvSpPr>
        <p:spPr>
          <a:xfrm>
            <a:off x="840582" y="563463"/>
            <a:ext cx="11351418"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900" b="1" i="0" u="none" strike="noStrike" cap="none" dirty="0">
                <a:latin typeface="Times New Roman" panose="02020603050405020304" pitchFamily="18" charset="0"/>
                <a:ea typeface="Urbanist"/>
                <a:cs typeface="Times New Roman" panose="02020603050405020304" pitchFamily="18" charset="0"/>
                <a:sym typeface="Urbanist"/>
              </a:rPr>
              <a:t>Hướng phát triển trong tương lai</a:t>
            </a:r>
            <a:endParaRPr dirty="0">
              <a:latin typeface="Times New Roman" panose="02020603050405020304" pitchFamily="18" charset="0"/>
              <a:cs typeface="Times New Roman" panose="02020603050405020304" pitchFamily="18" charset="0"/>
            </a:endParaRPr>
          </a:p>
        </p:txBody>
      </p:sp>
      <p:sp>
        <p:nvSpPr>
          <p:cNvPr id="22" name="Google Shape;102;p13">
            <a:extLst>
              <a:ext uri="{FF2B5EF4-FFF2-40B4-BE49-F238E27FC236}">
                <a16:creationId xmlns:a16="http://schemas.microsoft.com/office/drawing/2014/main" id="{B72C1BB6-A4B6-B853-382B-A57B032CCD5A}"/>
              </a:ext>
            </a:extLst>
          </p:cNvPr>
          <p:cNvSpPr/>
          <p:nvPr/>
        </p:nvSpPr>
        <p:spPr>
          <a:xfrm>
            <a:off x="602457" y="563463"/>
            <a:ext cx="57150" cy="590550"/>
          </a:xfrm>
          <a:prstGeom prst="rect">
            <a:avLst/>
          </a:prstGeom>
          <a:solidFill>
            <a:schemeClr val="tx1">
              <a:lumMod val="85000"/>
              <a:lumOff val="1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05027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520BFC-A7B5-AD61-0779-5243C5F8B58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9036" b="12293"/>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319997666"/>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{29A25864-7792-4352-9673-FBADD1165F43}f4c2fa09-5552-4190-875c-1979579583e2-TFc553d604-a3b6-4c52-b2ed-3a769335c0fd_win32</Template>
  <TotalTime>2047</TotalTime>
  <Words>2349</Words>
  <Application>Microsoft Office PowerPoint</Application>
  <PresentationFormat>Widescreen</PresentationFormat>
  <Paragraphs>187</Paragraphs>
  <Slides>27</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Aptos</vt:lpstr>
      <vt:lpstr>Arial</vt:lpstr>
      <vt:lpstr>Lora</vt:lpstr>
      <vt:lpstr>Playfair Display Black</vt:lpstr>
      <vt:lpstr>Poppins Light</vt:lpstr>
      <vt:lpstr>Roboto</vt:lpstr>
      <vt:lpstr>Roboto Bold</vt:lpstr>
      <vt:lpstr>Roboto Light</vt:lpstr>
      <vt:lpstr>Times New Roman</vt:lpstr>
      <vt:lpstr>Gradient Circle</vt:lpstr>
      <vt:lpstr>Phát triển ứng dụng Web, Mobile quản lý và giám sát sự kiện an ninh trong trường đại học</vt:lpstr>
      <vt:lpstr>Nội dung</vt:lpstr>
      <vt:lpstr>Giới thiệu tổng quan</vt:lpstr>
      <vt:lpstr>PowerPoint Presentation</vt:lpstr>
      <vt:lpstr>PowerPoint Presentation</vt:lpstr>
      <vt:lpstr>PowerPoint Presentation</vt:lpstr>
      <vt:lpstr>CƠ SỞ LÝ THUYẾT</vt:lpstr>
      <vt:lpstr>PowerPoint Presentation</vt:lpstr>
      <vt:lpstr>PowerPoint Presentation</vt:lpstr>
      <vt:lpstr>Phân tích - Thiết kế</vt:lpstr>
      <vt:lpstr>PowerPoint Presentation</vt:lpstr>
      <vt:lpstr>PowerPoint Presentation</vt:lpstr>
      <vt:lpstr>1. Phân tích Yêu cầu</vt:lpstr>
      <vt:lpstr>2. Cơ sở dữ liệu – sơ đồ phiên bản ban đầu</vt:lpstr>
      <vt:lpstr>3. Kiến trúc và quy trình hoạt động</vt:lpstr>
      <vt:lpstr>PowerPoint Presentation</vt:lpstr>
      <vt:lpstr>1. Giao diện Web dành cho quản trị viên</vt:lpstr>
      <vt:lpstr>2. Tính năng nhận diện hành vi và gửi thông báo</vt:lpstr>
      <vt:lpstr>3. Báo cáo ca trực với trợ lý AI</vt:lpstr>
      <vt:lpstr>PowerPoint Presentation</vt:lpstr>
      <vt:lpstr>5. Tiếp nhận cảnh báo và tra cứu trợ lý ASA</vt:lpstr>
      <vt:lpstr>PowerPoint Presentation</vt:lpstr>
      <vt:lpstr>Kết luận và hướng phát triển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Lộc Phan Văn</dc:creator>
  <cp:lastModifiedBy>PHAN VĂN LỘC</cp:lastModifiedBy>
  <cp:revision>18</cp:revision>
  <dcterms:created xsi:type="dcterms:W3CDTF">2026-04-23T08:49:04Z</dcterms:created>
  <dcterms:modified xsi:type="dcterms:W3CDTF">2026-09-14T17:15:39Z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